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0af4304fc24040" /><Relationship Type="http://schemas.openxmlformats.org/officeDocument/2006/relationships/extended-properties" Target="/docProps/app.xml" Id="R4ef1fe73557c4680" /><Relationship Type="http://schemas.openxmlformats.org/officeDocument/2006/relationships/officeDocument" Target="/ppt/presentation.xml" Id="Rba6646505ad84972" /></Relationships>
</file>

<file path=ppt/presentation.xml><?xml version="1.0" encoding="utf-8"?>
<p:presentation xmlns:p="http://schemas.openxmlformats.org/presentationml/2006/main">
  <p:sldMasterIdLst>
    <p:sldMasterId xmlns:r="http://schemas.openxmlformats.org/officeDocument/2006/relationships" id="2147483648" r:id="R011d39825ef441ac"/>
  </p:sldMasterIdLst>
  <p:notesMasterIdLst>
    <p:notesMasterId xmlns:r="http://schemas.openxmlformats.org/officeDocument/2006/relationships" r:id="Ra420e5594b86482c"/>
  </p:notesMasterIdLst>
  <p:sldIdLst>
    <p:sldId xmlns:r="http://schemas.openxmlformats.org/officeDocument/2006/relationships" id="256" r:id="R88016e9978854ea7"/>
    <p:sldId xmlns:r="http://schemas.openxmlformats.org/officeDocument/2006/relationships" id="257" r:id="R36bbf69085444f81"/>
    <p:sldId xmlns:r="http://schemas.openxmlformats.org/officeDocument/2006/relationships" id="258" r:id="R9ba3e621ad044caa"/>
    <p:sldId xmlns:r="http://schemas.openxmlformats.org/officeDocument/2006/relationships" id="259" r:id="Ref6e47b52f474452"/>
    <p:sldId xmlns:r="http://schemas.openxmlformats.org/officeDocument/2006/relationships" id="260" r:id="R11b33719ded54956"/>
    <p:sldId xmlns:r="http://schemas.openxmlformats.org/officeDocument/2006/relationships" id="261" r:id="R64c2e6b614ac4646"/>
    <p:sldId xmlns:r="http://schemas.openxmlformats.org/officeDocument/2006/relationships" id="262" r:id="R284da2b17b694b4b"/>
    <p:sldId xmlns:r="http://schemas.openxmlformats.org/officeDocument/2006/relationships" id="263" r:id="R59f7cd82c4bd4af0"/>
    <p:sldId xmlns:r="http://schemas.openxmlformats.org/officeDocument/2006/relationships" id="264" r:id="Rbb23b9589acf4fd4"/>
    <p:sldId xmlns:r="http://schemas.openxmlformats.org/officeDocument/2006/relationships" id="265" r:id="Rcff8c68bfd6c4610"/>
    <p:sldId xmlns:r="http://schemas.openxmlformats.org/officeDocument/2006/relationships" id="266" r:id="R84b4c6a195924bdf"/>
    <p:sldId xmlns:r="http://schemas.openxmlformats.org/officeDocument/2006/relationships" id="267" r:id="R9a6448fc151b4992"/>
    <p:sldId xmlns:r="http://schemas.openxmlformats.org/officeDocument/2006/relationships" id="268" r:id="R8f8f8e8098264c8b"/>
    <p:sldId xmlns:r="http://schemas.openxmlformats.org/officeDocument/2006/relationships" id="269" r:id="R752bca0df27243aa"/>
    <p:sldId xmlns:r="http://schemas.openxmlformats.org/officeDocument/2006/relationships" id="270" r:id="R8dfa51d211d846d9"/>
    <p:sldId xmlns:r="http://schemas.openxmlformats.org/officeDocument/2006/relationships" id="271" r:id="R7502157b81184523"/>
    <p:sldId xmlns:r="http://schemas.openxmlformats.org/officeDocument/2006/relationships" id="272" r:id="R89380ffe1de04276"/>
    <p:sldId xmlns:r="http://schemas.openxmlformats.org/officeDocument/2006/relationships" id="273" r:id="Rd145f5778a7f49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73e69671804c17" /><Relationship Type="http://schemas.openxmlformats.org/officeDocument/2006/relationships/slideMaster" Target="/ppt/slideMasters/slideMaster1.xml" Id="R011d39825ef441ac" /><Relationship Type="http://schemas.openxmlformats.org/officeDocument/2006/relationships/notesMaster" Target="/ppt/notesMasters/notesMaster1.xml" Id="Ra420e5594b86482c" /><Relationship Type="http://schemas.openxmlformats.org/officeDocument/2006/relationships/presProps" Target="/ppt/presProps.xml" Id="Rb271d77f1fd3447e" /><Relationship Type="http://schemas.openxmlformats.org/officeDocument/2006/relationships/tableStyles" Target="/ppt/tableStyles.xml" Id="R0c1272053a9a4421" /><Relationship Type="http://schemas.openxmlformats.org/officeDocument/2006/relationships/slide" Target="/ppt/slides/slide1.xml" Id="R88016e9978854ea7" /><Relationship Type="http://schemas.openxmlformats.org/officeDocument/2006/relationships/slide" Target="/ppt/slides/slide2.xml" Id="R36bbf69085444f81" /><Relationship Type="http://schemas.openxmlformats.org/officeDocument/2006/relationships/slide" Target="/ppt/slides/slide3.xml" Id="R9ba3e621ad044caa" /><Relationship Type="http://schemas.openxmlformats.org/officeDocument/2006/relationships/slide" Target="/ppt/slides/slide4.xml" Id="Ref6e47b52f474452" /><Relationship Type="http://schemas.openxmlformats.org/officeDocument/2006/relationships/slide" Target="/ppt/slides/slide5.xml" Id="R11b33719ded54956" /><Relationship Type="http://schemas.openxmlformats.org/officeDocument/2006/relationships/slide" Target="/ppt/slides/slide6.xml" Id="R64c2e6b614ac4646" /><Relationship Type="http://schemas.openxmlformats.org/officeDocument/2006/relationships/slide" Target="/ppt/slides/slide7.xml" Id="R284da2b17b694b4b" /><Relationship Type="http://schemas.openxmlformats.org/officeDocument/2006/relationships/slide" Target="/ppt/slides/slide8.xml" Id="R59f7cd82c4bd4af0" /><Relationship Type="http://schemas.openxmlformats.org/officeDocument/2006/relationships/slide" Target="/ppt/slides/slide9.xml" Id="Rbb23b9589acf4fd4" /><Relationship Type="http://schemas.openxmlformats.org/officeDocument/2006/relationships/slide" Target="/ppt/slides/slide10.xml" Id="Rcff8c68bfd6c4610" /><Relationship Type="http://schemas.openxmlformats.org/officeDocument/2006/relationships/slide" Target="/ppt/slides/slide11.xml" Id="R84b4c6a195924bdf" /><Relationship Type="http://schemas.openxmlformats.org/officeDocument/2006/relationships/slide" Target="/ppt/slides/slide12.xml" Id="R9a6448fc151b4992" /><Relationship Type="http://schemas.openxmlformats.org/officeDocument/2006/relationships/slide" Target="/ppt/slides/slide13.xml" Id="R8f8f8e8098264c8b" /><Relationship Type="http://schemas.openxmlformats.org/officeDocument/2006/relationships/slide" Target="/ppt/slides/slide14.xml" Id="R752bca0df27243aa" /><Relationship Type="http://schemas.openxmlformats.org/officeDocument/2006/relationships/slide" Target="/ppt/slides/slide15.xml" Id="R8dfa51d211d846d9" /><Relationship Type="http://schemas.openxmlformats.org/officeDocument/2006/relationships/slide" Target="/ppt/slides/slide16.xml" Id="R7502157b81184523" /><Relationship Type="http://schemas.openxmlformats.org/officeDocument/2006/relationships/slide" Target="/ppt/slides/slide17.xml" Id="R89380ffe1de04276" /><Relationship Type="http://schemas.openxmlformats.org/officeDocument/2006/relationships/slide" Target="/ppt/slides/slide18.xml" Id="Rd145f5778a7f49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684476b3bb41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b0b976fdda4589" /><Relationship Type="http://schemas.openxmlformats.org/officeDocument/2006/relationships/notesMaster" Target="/ppt/notesMasters/notesMaster1.xml" Id="R72e8c1752d4a45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b265b5335e4349" /><Relationship Type="http://schemas.openxmlformats.org/officeDocument/2006/relationships/notesMaster" Target="/ppt/notesMasters/notesMaster1.xml" Id="R4d871f9a88ab40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8666bf38e441fe" /><Relationship Type="http://schemas.openxmlformats.org/officeDocument/2006/relationships/notesMaster" Target="/ppt/notesMasters/notesMaster1.xml" Id="R67c822f1b2fc4a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4ac0ce6d7a432b" /><Relationship Type="http://schemas.openxmlformats.org/officeDocument/2006/relationships/notesMaster" Target="/ppt/notesMasters/notesMaster1.xml" Id="R2434107d103f4d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f33a90d61c4a81" /><Relationship Type="http://schemas.openxmlformats.org/officeDocument/2006/relationships/notesMaster" Target="/ppt/notesMasters/notesMaster1.xml" Id="Ree57b656148e4b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02e462e6a34e70" /><Relationship Type="http://schemas.openxmlformats.org/officeDocument/2006/relationships/notesMaster" Target="/ppt/notesMasters/notesMaster1.xml" Id="R00cf21c0e28f49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9b6fb5b381483b" /><Relationship Type="http://schemas.openxmlformats.org/officeDocument/2006/relationships/notesMaster" Target="/ppt/notesMasters/notesMaster1.xml" Id="Rd5c75a7ed03b45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10c04584c64ba0" /><Relationship Type="http://schemas.openxmlformats.org/officeDocument/2006/relationships/notesMaster" Target="/ppt/notesMasters/notesMaster1.xml" Id="R5322bd1cc73f41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e76ef9b7e1455e" /><Relationship Type="http://schemas.openxmlformats.org/officeDocument/2006/relationships/notesMaster" Target="/ppt/notesMasters/notesMaster1.xml" Id="R25a9578a686c43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5264dc8e9d42ab" /><Relationship Type="http://schemas.openxmlformats.org/officeDocument/2006/relationships/notesMaster" Target="/ppt/notesMasters/notesMaster1.xml" Id="Rbd2d7110876043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1edd7cc0bd48ad" /><Relationship Type="http://schemas.openxmlformats.org/officeDocument/2006/relationships/notesMaster" Target="/ppt/notesMasters/notesMaster1.xml" Id="R37847a2c31944b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acea34908049ae" /><Relationship Type="http://schemas.openxmlformats.org/officeDocument/2006/relationships/notesMaster" Target="/ppt/notesMasters/notesMaster1.xml" Id="R746978e195904d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ed73ba85334076" /><Relationship Type="http://schemas.openxmlformats.org/officeDocument/2006/relationships/notesMaster" Target="/ppt/notesMasters/notesMaster1.xml" Id="R2616340cf55b46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1373e421984186" /><Relationship Type="http://schemas.openxmlformats.org/officeDocument/2006/relationships/notesMaster" Target="/ppt/notesMasters/notesMaster1.xml" Id="R95e865db75634f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a1f2b7e5fb4bc1" /><Relationship Type="http://schemas.openxmlformats.org/officeDocument/2006/relationships/notesMaster" Target="/ppt/notesMasters/notesMaster1.xml" Id="Rf3668ef9853b488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6dd4b23ee24b89" /><Relationship Type="http://schemas.openxmlformats.org/officeDocument/2006/relationships/notesMaster" Target="/ppt/notesMasters/notesMaster1.xml" Id="Rea303fb3ef9547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dd72911dc84085" /><Relationship Type="http://schemas.openxmlformats.org/officeDocument/2006/relationships/notesMaster" Target="/ppt/notesMasters/notesMaster1.xml" Id="R86ddac19680848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2dfdcd72244a72" /><Relationship Type="http://schemas.openxmlformats.org/officeDocument/2006/relationships/notesMaster" Target="/ppt/notesMasters/notesMaster1.xml" Id="R44a2587a6efe46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opening: I will walk through how I connect screens into an experience, make decisions readable, and communicate the design before it is fully polished. Ask which part is most relevant to the person in the room. The full route takes roughly 15–20 minutes. The short route keeps the core examples and educational comparison.</a:t>
            </a:r>
          </a:p>
          <a:p xmlns:a="http://schemas.openxmlformats.org/drawingml/2006/main">
            <a:r>
              <a:t/>
            </a:r>
          </a:p>
          <a:p xmlns:a="http://schemas.openxmlformats.org/drawingml/2006/main">
            <a:r>
              <a:t/>
            </a:r>
          </a:p>
          <a:p xmlns:a="http://schemas.openxmlformats.org/drawingml/2006/main">
            <a:r>
              <a:t/>
            </a:r>
          </a:p>
          <a:p xmlns:a="http://schemas.openxmlformats.org/drawingml/2006/main">
            <a:r>
              <a:t>Source: Existing résumé, portfolio, and UX walkthroughs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lens for the examples, rather than claiming every project followed an identical process. Ask the audience to keep one question in mind: can the person predict what their next action will do? Distinguish what the original artifacts show from your retrospective interpretation.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portfolio-ux-data.js and services.html#process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intentionally leaves the project details blank. Fill it for the project you plan to discuss. Avoid inventing personas or research to make the story appear complete. If the brief is unavailable, explain the task visible in the artifact and state that the original brief is not available.</a:t>
            </a:r>
          </a:p>
          <a:p xmlns:a="http://schemas.openxmlformats.org/drawingml/2006/main">
            <a:r>
              <a:t/>
            </a:r>
          </a:p>
          <a:p xmlns:a="http://schemas.openxmlformats.org/drawingml/2006/main">
            <a:r>
              <a:t>Suggestion: Add a real brief or a short account of the request in your own words.</a:t>
            </a:r>
          </a:p>
          <a:p xmlns:a="http://schemas.openxmlformats.org/drawingml/2006/main">
            <a:r>
              <a:t>Suggestion: Name the decisions you owned and the work your teammates contributed.</a:t>
            </a:r>
          </a:p>
          <a:p xmlns:a="http://schemas.openxmlformats.org/drawingml/2006/main">
            <a:r>
              <a:t>Suggestion: Add confirmed constraints such as controller input, localisation, timeline, or engine requirements.</a:t>
            </a:r>
          </a:p>
          <a:p xmlns:a="http://schemas.openxmlformats.org/drawingml/2006/main">
            <a:r>
              <a:t/>
            </a:r>
          </a:p>
          <a:p xmlns:a="http://schemas.openxmlformats.org/drawingml/2006/main">
            <a:r>
              <a:t>Source: No original project brief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original design period 2020–2021, UX Magicians. Start at discovery and follow the activity loop. Explain where the reward enables the next creative step. The win and loss branches are visible in the source. Draft recovery and a private-save path are later proposals in the portfolio, not documented original behaviour. Ask: where could a person lose track of what they have earned?</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portfolio-data.js, portfolio-ux-data.js; portfolio-imgs/stardust-flowchart.png</a:t>
            </a:r>
          </a:p>
          <a:p xmlns:a="http://schemas.openxmlformats.org/drawingml/2006/main">
            <a:r>
              <a:t>Explore: https://remiclassic.github.io/remiresume/portfolio-showcase.html#stardust/flow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sitemap supplies the structure. Use it to explain navigation context and return routes. Proposed extension: keep a draft and let someone finish without sharing publicly. Do not claim that this recovery behaviour shipped or improved retention. Suggested task: finish a painting, cancel sharing, and find it again.</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portfolio-imgs/s-image121.png; portfolio-ux-data.js: stardust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work from the Piranha Games studio period, 2016–2018. Your documented role is UX/UI. Explain the connection between destination, contract, and preparation. Talk about the information that supports the decision without claiming sole ownership of the game or undocumented usability results.</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portfolio-data.js: mechwarrior; portfolio-imgs/mw5-mission.png</a:t>
            </a:r>
          </a:p>
          <a:p xmlns:a="http://schemas.openxmlformats.org/drawingml/2006/main">
            <a:r>
              <a:t>Explore: https://remiclassic.github.io/remiresume/portfolio-showcase.html#mechwarrior/flow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original mech bay first. Then explicitly introduce the later concept extension. Demo a standard repair, cancel before spending, and the insufficient-funds scenario. The credit values and essential-repair rule are illustrative prototype content. Suggested validation: can a player explain the cost before confirming and identify what blocks deployment?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portfolio-imgs/mw5-mechbay.png; portfolio-ux-data.js: mechwarrior</a:t>
            </a:r>
          </a:p>
          <a:p xmlns:a="http://schemas.openxmlformats.org/drawingml/2006/main">
            <a:r>
              <a:t>Explore: https://remiclassic.github.io/remiresume/portfolio-showcase.html#mechwarrior/prototype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visual critique, not a user-test finding. The original date and game affiliation are unconfirmed. Vanguard is the portfolio study title. Describe what can be observed in the image, then explain what you chose to clarify. The following screens are 2026 AI-assisted companion concepts with an interactive React prototype.</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portfolio-imgs/vanguard/original.png; portfolio-data.js: vanguard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 concept proposal. Traits are illustrative design content, not official balance rules. Explain the intended information hierarchy. There is a useful unresolved tension: heavy plate artwork can imply high protection. Validate that interpretation or change the silhouette. This is a design question, not a proven improvement.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portfolio-imgs/vanguard/class-selection.png; portfolio-ux-data.js: vanguard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 AI-assisted companion screen. Use the live prototype to demonstrate preview versus commitment. Explain how focus should return to the selected item after cancellation, and how the interface should announce successful equipment changes. The unlock requirements are example rules.</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portfolio-imgs/vanguard/loadout.png; src/vanguard-state.js; portfolio-ux-data.js: vanguard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live demo: choose a class, preview the poleaxe, cancel, then equip it and review. Deploy, simulate a failed join using the prototype controls, and show that selections remain intact. These are implemented concept behaviours, not production-game outcomes. Open the demo in a separate tab so the presentation keeps its place.</a:t>
            </a:r>
          </a:p>
          <a:p xmlns:a="http://schemas.openxmlformats.org/drawingml/2006/main">
            <a:r>
              <a:t/>
            </a:r>
          </a:p>
          <a:p xmlns:a="http://schemas.openxmlformats.org/drawingml/2006/main">
            <a:r>
              <a:t/>
            </a:r>
          </a:p>
          <a:p xmlns:a="http://schemas.openxmlformats.org/drawingml/2006/main">
            <a:r>
              <a:t/>
            </a:r>
          </a:p>
          <a:p xmlns:a="http://schemas.openxmlformats.org/drawingml/2006/main">
            <a:r>
              <a:t>Source: portfolio-imgs/vanguard/deployment.png; src/vanguard.jsx; src/vanguard-state.js</a:t>
            </a:r>
          </a:p>
          <a:p xmlns:a="http://schemas.openxmlformats.org/drawingml/2006/main">
            <a:r>
              <a:t>Explore: https://remiclassic.github.io/remiresume/vanguard.html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findings blank until the sessions happen. Record wrong-state interpretations, accidental commitments, and task completion without prompting. Check text contrast and readability at living-room distance. A proposed sample size is a plan, not evidence. Do not turn prototype correctness tests into claims about usability.</a:t>
            </a:r>
          </a:p>
          <a:p xmlns:a="http://schemas.openxmlformats.org/drawingml/2006/main">
            <a:r>
              <a:t/>
            </a:r>
          </a:p>
          <a:p xmlns:a="http://schemas.openxmlformats.org/drawingml/2006/main">
            <a:r>
              <a:t>Suggestion: Add task observations, participant context, and the actual test date.</a:t>
            </a:r>
          </a:p>
          <a:p xmlns:a="http://schemas.openxmlformats.org/drawingml/2006/main">
            <a:r>
              <a:t>Suggestion: Add a before-and-after decision tied to a specific observed problem.</a:t>
            </a:r>
          </a:p>
          <a:p xmlns:a="http://schemas.openxmlformats.org/drawingml/2006/main">
            <a:r>
              <a:t/>
            </a:r>
          </a:p>
          <a:p xmlns:a="http://schemas.openxmlformats.org/drawingml/2006/main">
            <a:r>
              <a:t>Source: portfolio-ux-data.js: vanguard.measure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educational story: One of the hardest parts of UI/UX is helping stakeholders see the vision before polish. Focus on the structure and the work can look unfinished. Focus on the art and the underlying decisions can disappear. Greyboxing gives us room to solve hierarchy, interactions, and flows before investing heavily in visual production. But not everyone can picture the result from a wireframe. Sometimes a rough layout supports the conversation. Sometimes a visual target helps much earlier. Ask the audience what each image makes them notice first. These images share the broad layout, but visible labels, navigation, content, and emphasis differ. A screenshot pair does not establish identical behaviour or tested usability. Describe the art version as a visual target, not evidence of a validated production interface. Date, production status, and asset authorship for the supplied pair are unconfirmed.</a:t>
            </a:r>
          </a:p>
          <a:p xmlns:a="http://schemas.openxmlformats.org/drawingml/2006/main">
            <a:r>
              <a:t/>
            </a:r>
          </a:p>
          <a:p xmlns:a="http://schemas.openxmlformats.org/drawingml/2006/main">
            <a:r>
              <a:t/>
            </a:r>
          </a:p>
          <a:p xmlns:a="http://schemas.openxmlformats.org/drawingml/2006/main">
            <a:r>
              <a:t/>
            </a:r>
          </a:p>
          <a:p xmlns:a="http://schemas.openxmlformats.org/drawingml/2006/main">
            <a:r>
              <a:t>Source: Two images supplied by Remi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 on the balancing act in your own words. Neither a stakeholder who needs polish nor one who needs the logic is necessarily wrong. They may be evaluating different things. State what is ready for review and what remains provisional. Useful invitation: let us evaluate the party-readiness hierarchy first, then discuss the visual treatment. Close the interlude by asking how the team prefers to evaluate early work.</a:t>
            </a:r>
          </a:p>
          <a:p xmlns:a="http://schemas.openxmlformats.org/drawingml/2006/main">
            <a:r>
              <a:t/>
            </a:r>
          </a:p>
          <a:p xmlns:a="http://schemas.openxmlformats.org/drawingml/2006/main">
            <a:r>
              <a:t/>
            </a:r>
          </a:p>
          <a:p xmlns:a="http://schemas.openxmlformats.org/drawingml/2006/main">
            <a:r>
              <a:t/>
            </a:r>
          </a:p>
          <a:p xmlns:a="http://schemas.openxmlformats.org/drawingml/2006/main">
            <a:r>
              <a:t>Source: Remi’s supplied educational text, edited for a live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archive as evidence that the files exist and show the flow structure. Multiple versions do not, on their own, explain why a change happened. Leave the rationale open if you do not have the original feedback. Bring one specific example of an alternative you considered and the constraint that led to the decision.</a:t>
            </a:r>
          </a:p>
          <a:p xmlns:a="http://schemas.openxmlformats.org/drawingml/2006/main">
            <a:r>
              <a:t/>
            </a:r>
          </a:p>
          <a:p xmlns:a="http://schemas.openxmlformats.org/drawingml/2006/main">
            <a:r>
              <a:t>Suggestion: Add a dated version pair and the actual feedback that caused a change.</a:t>
            </a:r>
          </a:p>
          <a:p xmlns:a="http://schemas.openxmlformats.org/drawingml/2006/main">
            <a:r>
              <a:t/>
            </a:r>
          </a:p>
          <a:p xmlns:a="http://schemas.openxmlformats.org/drawingml/2006/main">
            <a:r>
              <a:t>Source: services.html#figma-deep; services-assets/media/services/figma/deep/tnt-wire-flow.webp</a:t>
            </a:r>
          </a:p>
          <a:p xmlns:a="http://schemas.openxmlformats.org/drawingml/2006/main">
            <a:r>
              <a:t>Explore: https://remiclassic.github.io/remiresume/services.html#figma-deep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Focusrail is your own Unreal Engine plugin, available on Fab according to the existing portfolio. Use this capture to explain how navigation decisions become things a team can inspect and fix. Keep the claim specific to what the capture and product show. Do not claim improved production metrics without data.</a:t>
            </a:r>
          </a:p>
          <a:p xmlns:a="http://schemas.openxmlformats.org/drawingml/2006/main">
            <a:r>
              <a:t/>
            </a:r>
          </a:p>
          <a:p xmlns:a="http://schemas.openxmlformats.org/drawingml/2006/main">
            <a:r>
              <a:t/>
            </a:r>
          </a:p>
          <a:p xmlns:a="http://schemas.openxmlformats.org/drawingml/2006/main">
            <a:r>
              <a:t/>
            </a:r>
          </a:p>
          <a:p xmlns:a="http://schemas.openxmlformats.org/drawingml/2006/main">
            <a:r>
              <a:t>Source: services.html; services-assets/media/services/focusrail-editor.png</a:t>
            </a:r>
          </a:p>
          <a:p xmlns:a="http://schemas.openxmlformats.org/drawingml/2006/main">
            <a:r>
              <a:t>Explore: https://remiclassic.github.io/remiresume/services.html#implementation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Intentionally blank. This is the place for evidence, not a manufactured success story. If metrics are unavailable, use a documented qualitative observation and explain its limits. Keep testimonial praise separate from measured usability. You can skip this page in a live meeting until you have evidence to discuss.</a:t>
            </a:r>
          </a:p>
          <a:p xmlns:a="http://schemas.openxmlformats.org/drawingml/2006/main">
            <a:r>
              <a:t/>
            </a:r>
          </a:p>
          <a:p xmlns:a="http://schemas.openxmlformats.org/drawingml/2006/main">
            <a:r>
              <a:t>Suggestion: Add an actual observed problem and the change it prompted.</a:t>
            </a:r>
          </a:p>
          <a:p xmlns:a="http://schemas.openxmlformats.org/drawingml/2006/main">
            <a:r>
              <a:t>Suggestion: Add a verified task result, playtest observation, or stakeholder decision with context.</a:t>
            </a:r>
          </a:p>
          <a:p xmlns:a="http://schemas.openxmlformats.org/drawingml/2006/main">
            <a:r>
              <a:t>Suggestion: Add a concrete lesson about a trade-off, limitation, or unresolved question.</a:t>
            </a:r>
          </a:p>
          <a:p xmlns:a="http://schemas.openxmlformats.org/drawingml/2006/main">
            <a:r>
              <a:t/>
            </a:r>
          </a:p>
          <a:p xmlns:a="http://schemas.openxmlformats.org/drawingml/2006/main">
            <a:r>
              <a:t>Source: No measured UX outcomes or original test findings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by connecting the examples to the person in the room. Choose a relevant project to explore further instead of reciting every credit. For an interview, invite questions about your ownership, collaboration, and trade-offs. For a client conversation, ask for a real flow or build that would support the next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Source: Conversation prompts based on the supplied portfolio and educational text</a:t>
            </a:r>
          </a:p>
          <a:p xmlns:a="http://schemas.openxmlformats.org/drawingml/2006/main">
            <a:r>
              <a:t>Explore: https://remiclassic.github.io/remiresume/portfolio.html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cdbccd3e484e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c9a544f2e447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a1e58efbce34a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56dbb83b824d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cee8e1f50948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a045c4aad143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432991-B8C9-4431-8684-8345226C654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C20031-F7E7-48B9-BFCF-68ADC76D5C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226D06-0FA1-4D2E-9DF3-EE0FD45F944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E1ECCB-A929-4B98-8BD8-CE6ABE3C8F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D5B902-C964-46E1-A112-32029A9CC0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E5F721-0EE5-4767-9317-ABC60C899B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43E1CB-0C80-43EC-9FF6-04A3E4591C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F7E3E6-4A7E-4D0B-84F3-81AA5701E67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A10342-7ADB-4208-ADA4-6855A542D1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029632-D7BF-40C9-ADBE-52939844DE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ac96ec14c444da" /><Relationship Type="http://schemas.openxmlformats.org/officeDocument/2006/relationships/slideLayout" Target="/ppt/slideLayouts/slideLayout1.xml" Id="Rfa3d377be5dc4f27" /><Relationship Type="http://schemas.openxmlformats.org/officeDocument/2006/relationships/slideLayout" Target="/ppt/slideLayouts/slideLayout2.xml" Id="R9a8006032c67433b" /><Relationship Type="http://schemas.openxmlformats.org/officeDocument/2006/relationships/slideLayout" Target="/ppt/slideLayouts/slideLayout3.xml" Id="R8342648785414372" /><Relationship Type="http://schemas.openxmlformats.org/officeDocument/2006/relationships/slideLayout" Target="/ppt/slideLayouts/slideLayout4.xml" Id="Rc838f27ab111474f" /><Relationship Type="http://schemas.openxmlformats.org/officeDocument/2006/relationships/slideLayout" Target="/ppt/slideLayouts/slideLayout5.xml" Id="Rd8258daa094149e4" /><Relationship Type="http://schemas.openxmlformats.org/officeDocument/2006/relationships/slideLayout" Target="/ppt/slideLayouts/slideLayout6.xml" Id="Rc494b89ecaad4a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3d377be5dc4f27"/>
    <p:sldLayoutId xmlns:r="http://schemas.openxmlformats.org/officeDocument/2006/relationships" id="2147483650" r:id="R9a8006032c67433b"/>
    <p:sldLayoutId xmlns:r="http://schemas.openxmlformats.org/officeDocument/2006/relationships" id="2147483651" r:id="R8342648785414372"/>
    <p:sldLayoutId xmlns:r="http://schemas.openxmlformats.org/officeDocument/2006/relationships" id="2147483652" r:id="Rc838f27ab111474f"/>
    <p:sldLayoutId xmlns:r="http://schemas.openxmlformats.org/officeDocument/2006/relationships" id="2147483653" r:id="Rd8258daa094149e4"/>
    <p:sldLayoutId xmlns:r="http://schemas.openxmlformats.org/officeDocument/2006/relationships" id="2147483654" r:id="Rc494b89ecaad4a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6b2a1614784344" /><Relationship Type="http://schemas.openxmlformats.org/officeDocument/2006/relationships/notesSlide" Target="/ppt/notesSlides/notesSlide1.xml" Id="R2240538d9580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50e2b942484274" /><Relationship Type="http://schemas.openxmlformats.org/officeDocument/2006/relationships/notesSlide" Target="/ppt/notesSlides/notesSlide2.xml" Id="R92868a39a03e44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e64a31ba1a4c71" /><Relationship Type="http://schemas.openxmlformats.org/officeDocument/2006/relationships/notesSlide" Target="/ppt/notesSlides/notesSlide3.xml" Id="R10f40abf3a5846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742cc6a5fc448c" /><Relationship Type="http://schemas.openxmlformats.org/officeDocument/2006/relationships/image" Target="/ppt/media/image.png" Id="R3772d0ef1fd64cce" /><Relationship Type="http://schemas.openxmlformats.org/officeDocument/2006/relationships/notesSlide" Target="/ppt/notesSlides/notesSlide4.xml" Id="R80bd79a5b8e940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4b73e1c9714d5e" /><Relationship Type="http://schemas.openxmlformats.org/officeDocument/2006/relationships/image" Target="/ppt/media/image2.png" Id="R93c8196337ab473c" /><Relationship Type="http://schemas.openxmlformats.org/officeDocument/2006/relationships/notesSlide" Target="/ppt/notesSlides/notesSlide5.xml" Id="R05d3b62735f544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524e552a3d4798" /><Relationship Type="http://schemas.openxmlformats.org/officeDocument/2006/relationships/image" Target="/ppt/media/image3.png" Id="R75772a69a1e34fdd" /><Relationship Type="http://schemas.openxmlformats.org/officeDocument/2006/relationships/notesSlide" Target="/ppt/notesSlides/notesSlide6.xml" Id="R9431a16c2e7947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f60128c3774a0d" /><Relationship Type="http://schemas.openxmlformats.org/officeDocument/2006/relationships/image" Target="/ppt/media/image4.png" Id="R0afb488c5b844f7c" /><Relationship Type="http://schemas.openxmlformats.org/officeDocument/2006/relationships/notesSlide" Target="/ppt/notesSlides/notesSlide7.xml" Id="Rf71cc22a31784c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a944bf5dd644765" /><Relationship Type="http://schemas.openxmlformats.org/officeDocument/2006/relationships/image" Target="/ppt/media/image5.png" Id="R736af5bf754c4328" /><Relationship Type="http://schemas.openxmlformats.org/officeDocument/2006/relationships/notesSlide" Target="/ppt/notesSlides/notesSlide8.xml" Id="R82458cc839e84b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f4b56a990d4333" /><Relationship Type="http://schemas.openxmlformats.org/officeDocument/2006/relationships/image" Target="/ppt/media/image6.png" Id="Rfc058e483f8b4521" /><Relationship Type="http://schemas.openxmlformats.org/officeDocument/2006/relationships/notesSlide" Target="/ppt/notesSlides/notesSlide9.xml" Id="R4f78df81962b42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aa1491206d4053" /><Relationship Type="http://schemas.openxmlformats.org/officeDocument/2006/relationships/image" Target="/ppt/media/image7.png" Id="Ra9e96e5ea4414481" /><Relationship Type="http://schemas.openxmlformats.org/officeDocument/2006/relationships/notesSlide" Target="/ppt/notesSlides/notesSlide10.xml" Id="Ra634face6b4d40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deed67ad1904c56" /><Relationship Type="http://schemas.openxmlformats.org/officeDocument/2006/relationships/image" Target="/ppt/media/image8.png" Id="R8efd25eea06d4dc7" /><Relationship Type="http://schemas.openxmlformats.org/officeDocument/2006/relationships/notesSlide" Target="/ppt/notesSlides/notesSlide11.xml" Id="R99f0c8171f344c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0326b2b9cab431a" /><Relationship Type="http://schemas.openxmlformats.org/officeDocument/2006/relationships/notesSlide" Target="/ppt/notesSlides/notesSlide12.xml" Id="R66b5297845e446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c91399ff59c4535" /><Relationship Type="http://schemas.openxmlformats.org/officeDocument/2006/relationships/image" Target="/ppt/media/image9.png" Id="R9f708a4fd1d0496d" /><Relationship Type="http://schemas.openxmlformats.org/officeDocument/2006/relationships/image" Target="/ppt/media/image10.png" Id="Rf13cbaf768d04acd" /><Relationship Type="http://schemas.openxmlformats.org/officeDocument/2006/relationships/notesSlide" Target="/ppt/notesSlides/notesSlide13.xml" Id="Rb5cc0c071b2a4d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018b799e3914e68" /><Relationship Type="http://schemas.openxmlformats.org/officeDocument/2006/relationships/notesSlide" Target="/ppt/notesSlides/notesSlide14.xml" Id="R211c5625de604a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409e2414784aac" /><Relationship Type="http://schemas.openxmlformats.org/officeDocument/2006/relationships/image" Target="/ppt/media/image.bin" Id="R8aaab1816dac4cc2" /><Relationship Type="http://schemas.openxmlformats.org/officeDocument/2006/relationships/notesSlide" Target="/ppt/notesSlides/notesSlide15.xml" Id="R3311c3cab47b4a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13a1e0790e145a7" /><Relationship Type="http://schemas.openxmlformats.org/officeDocument/2006/relationships/image" Target="/ppt/media/image11.png" Id="R472b6233a273414c" /><Relationship Type="http://schemas.openxmlformats.org/officeDocument/2006/relationships/notesSlide" Target="/ppt/notesSlides/notesSlide16.xml" Id="R925663b39d3f4c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f1d9a0509e94551" /><Relationship Type="http://schemas.openxmlformats.org/officeDocument/2006/relationships/notesSlide" Target="/ppt/notesSlides/notesSlide17.xml" Id="R358b7ea39ad34f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84802706b6b454c" /><Relationship Type="http://schemas.openxmlformats.org/officeDocument/2006/relationships/notesSlide" Target="/ppt/notesSlides/notesSlide18.xml" Id="R6b4c4a4d1b8c436a" /></Relationships>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A96979-FD86-4979-A82D-8C8F6EFECD5D}"/>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FFDCA539-EA08-40D5-A523-214A852A8862}"/>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 / 18</a:t>
            </a:r>
          </a:p>
        </p:txBody>
      </p:sp>
      <p:sp>
        <p:nvSpPr>
          <p:cNvPr id="3" name="">
            <a:extLst xmlns:a="http://schemas.openxmlformats.org/drawingml/2006/main">
              <a:ext uri="{FF2B5EF4-FFF2-40B4-BE49-F238E27FC236}">
                <a16:creationId xmlns:a16="http://schemas.microsoft.com/office/drawing/2014/main" id="{A3116802-3171-4148-9552-FBF50F38994F}"/>
              </a:ext>
            </a:extLst>
          </p:cNvPr>
          <p:cNvSpPr>
            <a:spLocks xmlns:a="http://schemas.openxmlformats.org/drawingml/2006/main" noGrp="1"/>
          </p:cNvSpPr>
          <p:nvPr/>
        </p:nvSpPr>
        <p:spPr>
          <a:xfrm xmlns:a="http://schemas.openxmlformats.org/drawingml/2006/main">
            <a:off x="647700" y="1762125"/>
            <a:ext cx="10096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850" b="0">
                <a:solidFill>
                  <a:srgbClr val="252B23"/>
                </a:solidFill>
                <a:latin typeface="Arial"/>
                <a:ea typeface="Arial"/>
                <a:cs typeface="Arial"/>
              </a:defRPr>
            </a:defPPr>
          </a:lstStyle>
          <a:p xmlns:a="http://schemas.openxmlformats.org/drawingml/2006/main">
            <a:pPr>
              <a:defRPr sz="5850" b="0">
                <a:solidFill>
                  <a:srgbClr val="252B23"/>
                </a:solidFill>
                <a:latin typeface="Arial"/>
                <a:ea typeface="Arial"/>
                <a:cs typeface="Arial"/>
              </a:defRPr>
            </a:pPr>
            <a:r>
              <a:rPr sz="5850" b="0">
                <a:solidFill>
                  <a:srgbClr val="252B23"/>
                </a:solidFill>
                <a:latin typeface="Arial"/>
                <a:ea typeface="Arial"/>
                <a:cs typeface="Arial"/>
              </a:rPr>
              <a:t>The thinking behind the interface</a:t>
            </a:r>
          </a:p>
        </p:txBody>
      </p:sp>
      <p:sp>
        <p:nvSpPr>
          <p:cNvPr id="4" name="">
            <a:extLst xmlns:a="http://schemas.openxmlformats.org/drawingml/2006/main">
              <a:ext uri="{FF2B5EF4-FFF2-40B4-BE49-F238E27FC236}">
                <a16:creationId xmlns:a16="http://schemas.microsoft.com/office/drawing/2014/main" id="{8F0D1C2A-7D21-4321-BCF0-B117F3AAB0F4}"/>
              </a:ext>
            </a:extLst>
          </p:cNvPr>
          <p:cNvSpPr>
            <a:spLocks xmlns:a="http://schemas.openxmlformats.org/drawingml/2006/main" noGrp="1"/>
          </p:cNvSpPr>
          <p:nvPr/>
        </p:nvSpPr>
        <p:spPr>
          <a:xfrm xmlns:a="http://schemas.openxmlformats.org/drawingml/2006/main">
            <a:off x="685800" y="3952875"/>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45633E"/>
                </a:solidFill>
                <a:latin typeface="Arial"/>
                <a:ea typeface="Arial"/>
                <a:cs typeface="Arial"/>
              </a:defRPr>
            </a:defPPr>
          </a:lstStyle>
          <a:p xmlns:a="http://schemas.openxmlformats.org/drawingml/2006/main">
            <a:pPr>
              <a:defRPr sz="2100" b="0">
                <a:solidFill>
                  <a:srgbClr val="45633E"/>
                </a:solidFill>
                <a:latin typeface="Arial"/>
                <a:ea typeface="Arial"/>
                <a:cs typeface="Arial"/>
              </a:defRPr>
            </a:pPr>
            <a:r>
              <a:rPr sz="2100" b="0">
                <a:solidFill>
                  <a:srgbClr val="45633E"/>
                </a:solidFill>
                <a:latin typeface="Arial"/>
                <a:ea typeface="Arial"/>
                <a:cs typeface="Arial"/>
              </a:rPr>
              <a:t>Remi Couture · UX design walkthrough</a:t>
            </a:r>
          </a:p>
        </p:txBody>
      </p:sp>
      <p:sp>
        <p:nvSpPr>
          <p:cNvPr id="5" name="">
            <a:extLst xmlns:a="http://schemas.openxmlformats.org/drawingml/2006/main">
              <a:ext uri="{FF2B5EF4-FFF2-40B4-BE49-F238E27FC236}">
                <a16:creationId xmlns:a16="http://schemas.microsoft.com/office/drawing/2014/main" id="{F5361817-AD4A-47AA-AA2A-C0320054B109}"/>
              </a:ext>
            </a:extLst>
          </p:cNvPr>
          <p:cNvSpPr>
            <a:spLocks xmlns:a="http://schemas.openxmlformats.org/drawingml/2006/main" noGrp="1"/>
          </p:cNvSpPr>
          <p:nvPr/>
        </p:nvSpPr>
        <p:spPr>
          <a:xfrm xmlns:a="http://schemas.openxmlformats.org/drawingml/2006/main">
            <a:off x="685800" y="46577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62685D"/>
                </a:solidFill>
                <a:latin typeface="Arial"/>
                <a:ea typeface="Arial"/>
                <a:cs typeface="Arial"/>
              </a:defRPr>
            </a:defPPr>
          </a:lstStyle>
          <a:p xmlns:a="http://schemas.openxmlformats.org/drawingml/2006/main">
            <a:pPr>
              <a:defRPr sz="2100" b="0">
                <a:solidFill>
                  <a:srgbClr val="62685D"/>
                </a:solidFill>
                <a:latin typeface="Arial"/>
                <a:ea typeface="Arial"/>
                <a:cs typeface="Arial"/>
              </a:defRPr>
            </a:pPr>
            <a:r>
              <a:rPr sz="2100" b="0">
                <a:solidFill>
                  <a:srgbClr val="62685D"/>
                </a:solidFill>
                <a:latin typeface="Arial"/>
                <a:ea typeface="Arial"/>
                <a:cs typeface="Arial"/>
              </a:rPr>
              <a:t>A guided conversation about the decisions, flows, and trade-offs behind my work.</a:t>
            </a:r>
          </a:p>
        </p:txBody>
      </p:sp>
    </p:spTree>
    <p:extLst>
      <p:ext uri="{BB962C8B-B14F-4D97-AF65-F5344CB8AC3E}">
        <p14:creationId xmlns:p14="http://schemas.microsoft.com/office/powerpoint/2010/main" val="1808445687"/>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571912-ED5E-4905-BA5C-5B9A7B4B47ED}"/>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FRAMING</a:t>
            </a:r>
          </a:p>
        </p:txBody>
      </p:sp>
      <p:sp>
        <p:nvSpPr>
          <p:cNvPr id="2" name="">
            <a:extLst xmlns:a="http://schemas.openxmlformats.org/drawingml/2006/main">
              <a:ext uri="{FF2B5EF4-FFF2-40B4-BE49-F238E27FC236}">
                <a16:creationId xmlns:a16="http://schemas.microsoft.com/office/drawing/2014/main" id="{53772A21-7EE2-43B8-A50B-ADFAD8B28E29}"/>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2 / 18</a:t>
            </a:r>
          </a:p>
        </p:txBody>
      </p:sp>
      <p:sp>
        <p:nvSpPr>
          <p:cNvPr id="3" name="">
            <a:extLst xmlns:a="http://schemas.openxmlformats.org/drawingml/2006/main">
              <a:ext uri="{FF2B5EF4-FFF2-40B4-BE49-F238E27FC236}">
                <a16:creationId xmlns:a16="http://schemas.microsoft.com/office/drawing/2014/main" id="{B599275B-C4D3-4A37-806C-8ABE38978FD9}"/>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A decision before a screen</a:t>
            </a:r>
          </a:p>
        </p:txBody>
      </p:sp>
      <p:sp>
        <p:nvSpPr>
          <p:cNvPr id="4" name="">
            <a:extLst xmlns:a="http://schemas.openxmlformats.org/drawingml/2006/main">
              <a:ext uri="{FF2B5EF4-FFF2-40B4-BE49-F238E27FC236}">
                <a16:creationId xmlns:a16="http://schemas.microsoft.com/office/drawing/2014/main" id="{BCDC8563-6A7B-4BA3-B2F0-243015858FE0}"/>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I frame the task, map the journey, make the choice readable, and check how the experience responds.</a:t>
            </a:r>
          </a:p>
        </p:txBody>
      </p:sp>
      <p:sp>
        <p:nvSpPr>
          <p:cNvPr id="5" name="">
            <a:extLst xmlns:a="http://schemas.openxmlformats.org/drawingml/2006/main">
              <a:ext uri="{FF2B5EF4-FFF2-40B4-BE49-F238E27FC236}">
                <a16:creationId xmlns:a16="http://schemas.microsoft.com/office/drawing/2014/main" id="{F905428B-8BF8-475F-8C9F-75B51EA0647E}"/>
              </a:ext>
            </a:extLst>
          </p:cNvPr>
          <p:cNvSpPr>
            <a:spLocks xmlns:a="http://schemas.openxmlformats.org/drawingml/2006/main" noGrp="1"/>
          </p:cNvSpPr>
          <p:nvPr/>
        </p:nvSpPr>
        <p:spPr>
          <a:xfrm xmlns:a="http://schemas.openxmlformats.org/drawingml/2006/main">
            <a:off x="514350" y="278130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What is the person trying to accomplish?</a:t>
            </a:r>
          </a:p>
        </p:txBody>
      </p:sp>
      <p:sp>
        <p:nvSpPr>
          <p:cNvPr id="6" name="">
            <a:extLst xmlns:a="http://schemas.openxmlformats.org/drawingml/2006/main">
              <a:ext uri="{FF2B5EF4-FFF2-40B4-BE49-F238E27FC236}">
                <a16:creationId xmlns:a16="http://schemas.microsoft.com/office/drawing/2014/main" id="{21FA42B6-CCE1-41A2-8B20-742ECD83EFB8}"/>
              </a:ext>
            </a:extLst>
          </p:cNvPr>
          <p:cNvSpPr>
            <a:spLocks xmlns:a="http://schemas.openxmlformats.org/drawingml/2006/main" noGrp="1"/>
          </p:cNvSpPr>
          <p:nvPr/>
        </p:nvSpPr>
        <p:spPr>
          <a:xfrm xmlns:a="http://schemas.openxmlformats.org/drawingml/2006/main">
            <a:off x="514350" y="3648075"/>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What must they understand before choosing?</a:t>
            </a:r>
          </a:p>
        </p:txBody>
      </p:sp>
      <p:sp>
        <p:nvSpPr>
          <p:cNvPr id="7" name="">
            <a:extLst xmlns:a="http://schemas.openxmlformats.org/drawingml/2006/main">
              <a:ext uri="{FF2B5EF4-FFF2-40B4-BE49-F238E27FC236}">
                <a16:creationId xmlns:a16="http://schemas.microsoft.com/office/drawing/2014/main" id="{2517566E-299D-484F-A3DC-6A087FFC0AB6}"/>
              </a:ext>
            </a:extLst>
          </p:cNvPr>
          <p:cNvSpPr>
            <a:spLocks xmlns:a="http://schemas.openxmlformats.org/drawingml/2006/main" noGrp="1"/>
          </p:cNvSpPr>
          <p:nvPr/>
        </p:nvSpPr>
        <p:spPr>
          <a:xfrm xmlns:a="http://schemas.openxmlformats.org/drawingml/2006/main">
            <a:off x="514350" y="45148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What happens after the action, on cancel, or when something fails?</a:t>
            </a:r>
          </a:p>
        </p:txBody>
      </p:sp>
      <p:sp>
        <p:nvSpPr>
          <p:cNvPr id="8" name="">
            <a:extLst xmlns:a="http://schemas.openxmlformats.org/drawingml/2006/main">
              <a:ext uri="{FF2B5EF4-FFF2-40B4-BE49-F238E27FC236}">
                <a16:creationId xmlns:a16="http://schemas.microsoft.com/office/drawing/2014/main" id="{F53984C6-65D7-44DF-8A1D-8341BC95D6C4}"/>
              </a:ext>
            </a:extLst>
          </p:cNvPr>
          <p:cNvSpPr>
            <a:spLocks xmlns:a="http://schemas.openxmlformats.org/drawingml/2006/main" noGrp="1"/>
          </p:cNvSpPr>
          <p:nvPr/>
        </p:nvSpPr>
        <p:spPr>
          <a:xfrm xmlns:a="http://schemas.openxmlformats.org/drawingml/2006/main">
            <a:off x="514350" y="5381625"/>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What evidence would change the design?</a:t>
            </a:r>
          </a:p>
        </p:txBody>
      </p:sp>
    </p:spTree>
    <p:extLst>
      <p:ext uri="{BB962C8B-B14F-4D97-AF65-F5344CB8AC3E}">
        <p14:creationId xmlns:p14="http://schemas.microsoft.com/office/powerpoint/2010/main" val="1349615645"/>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E68F3E-52C1-4DBA-9D28-B380F131D7F0}"/>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FRAMING</a:t>
            </a:r>
          </a:p>
        </p:txBody>
      </p:sp>
      <p:sp>
        <p:nvSpPr>
          <p:cNvPr id="2" name="">
            <a:extLst xmlns:a="http://schemas.openxmlformats.org/drawingml/2006/main">
              <a:ext uri="{FF2B5EF4-FFF2-40B4-BE49-F238E27FC236}">
                <a16:creationId xmlns:a16="http://schemas.microsoft.com/office/drawing/2014/main" id="{3ABD5A43-A3A3-4434-BF55-26C60AF7B3C0}"/>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3 / 18</a:t>
            </a:r>
          </a:p>
        </p:txBody>
      </p:sp>
      <p:sp>
        <p:nvSpPr>
          <p:cNvPr id="3" name="">
            <a:extLst xmlns:a="http://schemas.openxmlformats.org/drawingml/2006/main">
              <a:ext uri="{FF2B5EF4-FFF2-40B4-BE49-F238E27FC236}">
                <a16:creationId xmlns:a16="http://schemas.microsoft.com/office/drawing/2014/main" id="{C8CDCBC4-D80D-4449-9A92-18ABCE164503}"/>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The brief and the constraints</a:t>
            </a:r>
          </a:p>
        </p:txBody>
      </p:sp>
      <p:sp>
        <p:nvSpPr>
          <p:cNvPr id="4" name="">
            <a:extLst xmlns:a="http://schemas.openxmlformats.org/drawingml/2006/main">
              <a:ext uri="{FF2B5EF4-FFF2-40B4-BE49-F238E27FC236}">
                <a16:creationId xmlns:a16="http://schemas.microsoft.com/office/drawing/2014/main" id="{50968F58-AE6B-4E80-8299-76068AFBB4DA}"/>
              </a:ext>
            </a:extLst>
          </p:cNvPr>
          <p:cNvSpPr>
            <a:spLocks xmlns:a="http://schemas.openxmlformats.org/drawingml/2006/main" noGrp="1"/>
          </p:cNvSpPr>
          <p:nvPr/>
        </p:nvSpPr>
        <p:spPr>
          <a:xfrm xmlns:a="http://schemas.openxmlformats.org/drawingml/2006/main">
            <a:off x="514350" y="1647825"/>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62685D"/>
                </a:solidFill>
                <a:latin typeface="Arial"/>
                <a:ea typeface="Arial"/>
                <a:cs typeface="Arial"/>
              </a:defRPr>
            </a:defPPr>
          </a:lstStyle>
          <a:p xmlns:a="http://schemas.openxmlformats.org/drawingml/2006/main">
            <a:pPr>
              <a:defRPr sz="1950" b="0">
                <a:solidFill>
                  <a:srgbClr val="62685D"/>
                </a:solidFill>
                <a:latin typeface="Arial"/>
                <a:ea typeface="Arial"/>
                <a:cs typeface="Arial"/>
              </a:defRPr>
            </a:pPr>
            <a:r>
              <a:rPr sz="1950" b="0">
                <a:solidFill>
                  <a:srgbClr val="62685D"/>
                </a:solidFill>
                <a:latin typeface="Arial"/>
                <a:ea typeface="Arial"/>
                <a:cs typeface="Arial"/>
              </a:rPr>
              <a:t>Project-specific evidence to add</a:t>
            </a:r>
          </a:p>
        </p:txBody>
      </p:sp>
      <p:sp>
        <p:nvSpPr>
          <p:cNvPr id="5" name="">
            <a:extLst xmlns:a="http://schemas.openxmlformats.org/drawingml/2006/main">
              <a:ext uri="{FF2B5EF4-FFF2-40B4-BE49-F238E27FC236}">
                <a16:creationId xmlns:a16="http://schemas.microsoft.com/office/drawing/2014/main" id="{2C2C9DF1-EF29-49AA-9252-54EB0EBC0CDF}"/>
              </a:ext>
            </a:extLst>
          </p:cNvPr>
          <p:cNvSpPr>
            <a:spLocks xmlns:a="http://schemas.openxmlformats.org/drawingml/2006/main" noGrp="1"/>
          </p:cNvSpPr>
          <p:nvPr/>
        </p:nvSpPr>
        <p:spPr>
          <a:xfrm xmlns:a="http://schemas.openxmlformats.org/drawingml/2006/main">
            <a:off x="514350" y="26574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Original problem statement</a:t>
            </a:r>
          </a:p>
        </p:txBody>
      </p:sp>
      <p:sp>
        <p:nvSpPr>
          <p:cNvPr id="6" name="">
            <a:extLst xmlns:a="http://schemas.openxmlformats.org/drawingml/2006/main">
              <a:ext uri="{FF2B5EF4-FFF2-40B4-BE49-F238E27FC236}">
                <a16:creationId xmlns:a16="http://schemas.microsoft.com/office/drawing/2014/main" id="{2275B652-304B-4D42-8293-72F7B391E507}"/>
              </a:ext>
            </a:extLst>
          </p:cNvPr>
          <p:cNvSpPr>
            <a:spLocks xmlns:a="http://schemas.openxmlformats.org/drawingml/2006/main" noGrp="1"/>
          </p:cNvSpPr>
          <p:nvPr/>
        </p:nvSpPr>
        <p:spPr>
          <a:xfrm xmlns:a="http://schemas.openxmlformats.org/drawingml/2006/main">
            <a:off x="514350" y="3762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My responsibility and collaborators</a:t>
            </a:r>
          </a:p>
        </p:txBody>
      </p:sp>
      <p:sp>
        <p:nvSpPr>
          <p:cNvPr id="7" name="">
            <a:extLst xmlns:a="http://schemas.openxmlformats.org/drawingml/2006/main">
              <a:ext uri="{FF2B5EF4-FFF2-40B4-BE49-F238E27FC236}">
                <a16:creationId xmlns:a16="http://schemas.microsoft.com/office/drawing/2014/main" id="{67B792C8-E6EF-4196-AFFB-3370F01022BF}"/>
              </a:ext>
            </a:extLst>
          </p:cNvPr>
          <p:cNvSpPr>
            <a:spLocks xmlns:a="http://schemas.openxmlformats.org/drawingml/2006/main" noGrp="1"/>
          </p:cNvSpPr>
          <p:nvPr/>
        </p:nvSpPr>
        <p:spPr>
          <a:xfrm xmlns:a="http://schemas.openxmlformats.org/drawingml/2006/main">
            <a:off x="514350" y="48672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Platform, audience, and production constraints</a:t>
            </a:r>
          </a:p>
        </p:txBody>
      </p:sp>
      <p:sp>
        <p:nvSpPr>
          <p:cNvPr id="8" name="">
            <a:extLst xmlns:a="http://schemas.openxmlformats.org/drawingml/2006/main">
              <a:ext uri="{FF2B5EF4-FFF2-40B4-BE49-F238E27FC236}">
                <a16:creationId xmlns:a16="http://schemas.microsoft.com/office/drawing/2014/main" id="{3BA14E3A-5CD2-4C29-A8EB-E0550C1C06CD}"/>
              </a:ext>
            </a:extLst>
          </p:cNvPr>
          <p:cNvSpPr>
            <a:spLocks xmlns:a="http://schemas.openxmlformats.org/drawingml/2006/main" noGrp="1"/>
          </p:cNvSpPr>
          <p:nvPr/>
        </p:nvSpPr>
        <p:spPr>
          <a:xfrm xmlns:a="http://schemas.openxmlformats.org/drawingml/2006/main">
            <a:off x="514350" y="63246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2685D"/>
                </a:solidFill>
                <a:latin typeface="Arial"/>
                <a:ea typeface="Arial"/>
                <a:cs typeface="Arial"/>
              </a:defRPr>
            </a:defPPr>
          </a:lstStyle>
          <a:p xmlns:a="http://schemas.openxmlformats.org/drawingml/2006/main">
            <a:pPr>
              <a:defRPr sz="1275" b="0">
                <a:solidFill>
                  <a:srgbClr val="62685D"/>
                </a:solidFill>
                <a:latin typeface="Arial"/>
                <a:ea typeface="Arial"/>
                <a:cs typeface="Arial"/>
              </a:defRPr>
            </a:pPr>
            <a:r>
              <a:rPr sz="1275" b="0">
                <a:solidFill>
                  <a:srgbClr val="62685D"/>
                </a:solidFill>
                <a:latin typeface="Arial"/>
                <a:ea typeface="Arial"/>
                <a:cs typeface="Arial"/>
              </a:rPr>
              <a:t>Intentionally blank. Suggestions are in the speaker notes.</a:t>
            </a:r>
          </a:p>
        </p:txBody>
      </p:sp>
    </p:spTree>
    <p:extLst>
      <p:ext uri="{BB962C8B-B14F-4D97-AF65-F5344CB8AC3E}">
        <p14:creationId xmlns:p14="http://schemas.microsoft.com/office/powerpoint/2010/main" val="1744154551"/>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2F230E-CD07-4D75-A90E-F427EF2C1637}"/>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CONNECTED JOURNEYS</a:t>
            </a:r>
          </a:p>
        </p:txBody>
      </p:sp>
      <p:sp>
        <p:nvSpPr>
          <p:cNvPr id="2" name="">
            <a:extLst xmlns:a="http://schemas.openxmlformats.org/drawingml/2006/main">
              <a:ext uri="{FF2B5EF4-FFF2-40B4-BE49-F238E27FC236}">
                <a16:creationId xmlns:a16="http://schemas.microsoft.com/office/drawing/2014/main" id="{35F7EDB6-BEB5-463D-B033-101C04328EEA}"/>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4 / 18</a:t>
            </a:r>
          </a:p>
        </p:txBody>
      </p:sp>
      <p:sp>
        <p:nvSpPr>
          <p:cNvPr id="3" name="">
            <a:extLst xmlns:a="http://schemas.openxmlformats.org/drawingml/2006/main">
              <a:ext uri="{FF2B5EF4-FFF2-40B4-BE49-F238E27FC236}">
                <a16:creationId xmlns:a16="http://schemas.microsoft.com/office/drawing/2014/main" id="{9B403B25-C90C-41D3-81FD-751BBC19B2A2}"/>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Stardust Canvas: the complete loop</a:t>
            </a:r>
          </a:p>
        </p:txBody>
      </p:sp>
      <p:sp>
        <p:nvSpPr>
          <p:cNvPr id="4" name="">
            <a:extLst xmlns:a="http://schemas.openxmlformats.org/drawingml/2006/main">
              <a:ext uri="{FF2B5EF4-FFF2-40B4-BE49-F238E27FC236}">
                <a16:creationId xmlns:a16="http://schemas.microsoft.com/office/drawing/2014/main" id="{A5E639E6-D67D-403E-9973-1997FCBB265B}"/>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The flow connects discovery and play to earning stars, painting, personalisation, and sharing.</a:t>
            </a:r>
          </a:p>
        </p:txBody>
      </p:sp>
      <p:pic>
        <p:nvPicPr>
          <p:cNvPr id="5" name="">
            <a:extLst xmlns:a="http://schemas.openxmlformats.org/drawingml/2006/main">
              <a:ext uri="{FF2B5EF4-FFF2-40B4-BE49-F238E27FC236}">
                <a16:creationId xmlns:a16="http://schemas.microsoft.com/office/drawing/2014/main" id="{FA8581AE-A30B-4BDE-9713-8A5A010C85AC}"/>
              </a:ext>
            </a:extLst>
          </p:cNvPr>
          <p:cNvPicPr>
            <a:picLocks xmlns:a="http://schemas.openxmlformats.org/drawingml/2006/main" noChangeAspect="1"/>
          </p:cNvPicPr>
          <p:nvPr/>
        </p:nvPicPr>
        <p:blipFill>
          <a:blip xmlns:r="http://schemas.openxmlformats.org/officeDocument/2006/relationships" xmlns:a="http://schemas.openxmlformats.org/drawingml/2006/main" r:embed="R3772d0ef1fd64cce"/>
          <a:stretch xmlns:a="http://schemas.openxmlformats.org/drawingml/2006/main"/>
        </p:blipFill>
        <p:spPr>
          <a:xfrm xmlns:a="http://schemas.openxmlformats.org/drawingml/2006/main">
            <a:off x="1811492" y="2724150"/>
            <a:ext cx="4987616"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6629A66-1B77-49BD-8ACA-1DF721AB26A9}"/>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Play connects to a creative goal.</a:t>
            </a:r>
          </a:p>
        </p:txBody>
      </p:sp>
      <p:sp>
        <p:nvSpPr>
          <p:cNvPr id="7" name="">
            <a:extLst xmlns:a="http://schemas.openxmlformats.org/drawingml/2006/main">
              <a:ext uri="{FF2B5EF4-FFF2-40B4-BE49-F238E27FC236}">
                <a16:creationId xmlns:a16="http://schemas.microsoft.com/office/drawing/2014/main" id="{DAAB9FDA-AFEC-414E-AA92-1226E5C1D346}"/>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Win and loss branches both have a next step.</a:t>
            </a:r>
          </a:p>
        </p:txBody>
      </p:sp>
    </p:spTree>
    <p:extLst>
      <p:ext uri="{BB962C8B-B14F-4D97-AF65-F5344CB8AC3E}">
        <p14:creationId xmlns:p14="http://schemas.microsoft.com/office/powerpoint/2010/main" val="827662861"/>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E8E84D-5C57-41FC-80AB-D7BC746CBF23}"/>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CONNECTED JOURNEYS</a:t>
            </a:r>
          </a:p>
        </p:txBody>
      </p:sp>
      <p:sp>
        <p:nvSpPr>
          <p:cNvPr id="2" name="">
            <a:extLst xmlns:a="http://schemas.openxmlformats.org/drawingml/2006/main">
              <a:ext uri="{FF2B5EF4-FFF2-40B4-BE49-F238E27FC236}">
                <a16:creationId xmlns:a16="http://schemas.microsoft.com/office/drawing/2014/main" id="{FE615654-0A13-44C3-9546-B974404FFAF4}"/>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5 / 18</a:t>
            </a:r>
          </a:p>
        </p:txBody>
      </p:sp>
      <p:sp>
        <p:nvSpPr>
          <p:cNvPr id="3" name="">
            <a:extLst xmlns:a="http://schemas.openxmlformats.org/drawingml/2006/main">
              <a:ext uri="{FF2B5EF4-FFF2-40B4-BE49-F238E27FC236}">
                <a16:creationId xmlns:a16="http://schemas.microsoft.com/office/drawing/2014/main" id="{1E229C4A-6CB7-4E4B-BC29-97BE30D30F03}"/>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The way back belongs in the design</a:t>
            </a:r>
          </a:p>
        </p:txBody>
      </p:sp>
      <p:sp>
        <p:nvSpPr>
          <p:cNvPr id="4" name="">
            <a:extLst xmlns:a="http://schemas.openxmlformats.org/drawingml/2006/main">
              <a:ext uri="{FF2B5EF4-FFF2-40B4-BE49-F238E27FC236}">
                <a16:creationId xmlns:a16="http://schemas.microsoft.com/office/drawing/2014/main" id="{D1F4675A-D357-4A1C-B0D5-0A760B161F0A}"/>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The sitemap places individual activities within a larger product. A completed activity needs a clear destination afterwards.</a:t>
            </a:r>
          </a:p>
        </p:txBody>
      </p:sp>
      <p:pic>
        <p:nvPicPr>
          <p:cNvPr id="5" name="">
            <a:extLst xmlns:a="http://schemas.openxmlformats.org/drawingml/2006/main">
              <a:ext uri="{FF2B5EF4-FFF2-40B4-BE49-F238E27FC236}">
                <a16:creationId xmlns:a16="http://schemas.microsoft.com/office/drawing/2014/main" id="{CB54B0D8-4728-490D-ACB1-8C6AB6BCA89E}"/>
              </a:ext>
            </a:extLst>
          </p:cNvPr>
          <p:cNvPicPr>
            <a:picLocks xmlns:a="http://schemas.openxmlformats.org/drawingml/2006/main" noChangeAspect="1"/>
          </p:cNvPicPr>
          <p:nvPr/>
        </p:nvPicPr>
        <p:blipFill>
          <a:blip xmlns:r="http://schemas.openxmlformats.org/officeDocument/2006/relationships" xmlns:a="http://schemas.openxmlformats.org/drawingml/2006/main" r:embed="R93c8196337ab473c"/>
          <a:stretch xmlns:a="http://schemas.openxmlformats.org/drawingml/2006/main"/>
        </p:blipFill>
        <p:spPr>
          <a:xfrm xmlns:a="http://schemas.openxmlformats.org/drawingml/2006/main">
            <a:off x="1811492" y="2724150"/>
            <a:ext cx="4987616"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51DA67E-290E-4FA6-9A81-F2F363E76C81}"/>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Destinations and the activity loop share a navigation structure.</a:t>
            </a:r>
          </a:p>
        </p:txBody>
      </p:sp>
      <p:sp>
        <p:nvSpPr>
          <p:cNvPr id="7" name="">
            <a:extLst xmlns:a="http://schemas.openxmlformats.org/drawingml/2006/main">
              <a:ext uri="{FF2B5EF4-FFF2-40B4-BE49-F238E27FC236}">
                <a16:creationId xmlns:a16="http://schemas.microsoft.com/office/drawing/2014/main" id="{69E60DC2-65CC-4B32-8838-DFEA1DD559E7}"/>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Interruption and cancelled sharing need a deliberate return path.</a:t>
            </a:r>
          </a:p>
        </p:txBody>
      </p:sp>
    </p:spTree>
    <p:extLst>
      <p:ext uri="{BB962C8B-B14F-4D97-AF65-F5344CB8AC3E}">
        <p14:creationId xmlns:p14="http://schemas.microsoft.com/office/powerpoint/2010/main" val="1450920961"/>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5AEC5A-5510-4967-8EA8-B364E2AF824E}"/>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COMPLEX DECISIONS</a:t>
            </a:r>
          </a:p>
        </p:txBody>
      </p:sp>
      <p:sp>
        <p:nvSpPr>
          <p:cNvPr id="2" name="">
            <a:extLst xmlns:a="http://schemas.openxmlformats.org/drawingml/2006/main">
              <a:ext uri="{FF2B5EF4-FFF2-40B4-BE49-F238E27FC236}">
                <a16:creationId xmlns:a16="http://schemas.microsoft.com/office/drawing/2014/main" id="{D9213C9E-3D94-4AE7-889F-2D810EBF00FE}"/>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6 / 18</a:t>
            </a:r>
          </a:p>
        </p:txBody>
      </p:sp>
      <p:sp>
        <p:nvSpPr>
          <p:cNvPr id="3" name="">
            <a:extLst xmlns:a="http://schemas.openxmlformats.org/drawingml/2006/main">
              <a:ext uri="{FF2B5EF4-FFF2-40B4-BE49-F238E27FC236}">
                <a16:creationId xmlns:a16="http://schemas.microsoft.com/office/drawing/2014/main" id="{DCA18FF3-26F7-4D54-B47E-2076C69B8F8A}"/>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MechWarrior 5: context beside the decision</a:t>
            </a:r>
          </a:p>
        </p:txBody>
      </p:sp>
      <p:sp>
        <p:nvSpPr>
          <p:cNvPr id="4" name="">
            <a:extLst xmlns:a="http://schemas.openxmlformats.org/drawingml/2006/main">
              <a:ext uri="{FF2B5EF4-FFF2-40B4-BE49-F238E27FC236}">
                <a16:creationId xmlns:a16="http://schemas.microsoft.com/office/drawing/2014/main" id="{7A01E596-090A-4519-B37C-C897079D8868}"/>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Mission conditions and the available lance share the screen so the player can review the contract alongside their resources.</a:t>
            </a:r>
          </a:p>
        </p:txBody>
      </p:sp>
      <p:pic>
        <p:nvPicPr>
          <p:cNvPr id="5" name="">
            <a:extLst xmlns:a="http://schemas.openxmlformats.org/drawingml/2006/main">
              <a:ext uri="{FF2B5EF4-FFF2-40B4-BE49-F238E27FC236}">
                <a16:creationId xmlns:a16="http://schemas.microsoft.com/office/drawing/2014/main" id="{3548D32B-BEB4-48DF-AC51-6647FED7E8C4}"/>
              </a:ext>
            </a:extLst>
          </p:cNvPr>
          <p:cNvPicPr>
            <a:picLocks xmlns:a="http://schemas.openxmlformats.org/drawingml/2006/main" noChangeAspect="1"/>
          </p:cNvPicPr>
          <p:nvPr/>
        </p:nvPicPr>
        <p:blipFill>
          <a:blip xmlns:r="http://schemas.openxmlformats.org/officeDocument/2006/relationships" xmlns:a="http://schemas.openxmlformats.org/drawingml/2006/main" r:embed="R75772a69a1e34fdd"/>
          <a:stretch xmlns:a="http://schemas.openxmlformats.org/drawingml/2006/main"/>
        </p:blipFill>
        <p:spPr>
          <a:xfrm xmlns:a="http://schemas.openxmlformats.org/drawingml/2006/main">
            <a:off x="1172633" y="2724150"/>
            <a:ext cx="6265333"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256E205-3AEB-4829-B8FC-32AA2492D8CF}"/>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What does the mission require?</a:t>
            </a:r>
          </a:p>
        </p:txBody>
      </p:sp>
      <p:sp>
        <p:nvSpPr>
          <p:cNvPr id="7" name="">
            <a:extLst xmlns:a="http://schemas.openxmlformats.org/drawingml/2006/main">
              <a:ext uri="{FF2B5EF4-FFF2-40B4-BE49-F238E27FC236}">
                <a16:creationId xmlns:a16="http://schemas.microsoft.com/office/drawing/2014/main" id="{57E5C600-6FC8-4662-A0E5-BCBA5081DF18}"/>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What can the player bring into it?</a:t>
            </a:r>
          </a:p>
        </p:txBody>
      </p:sp>
    </p:spTree>
    <p:extLst>
      <p:ext uri="{BB962C8B-B14F-4D97-AF65-F5344CB8AC3E}">
        <p14:creationId xmlns:p14="http://schemas.microsoft.com/office/powerpoint/2010/main" val="2027309886"/>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7F2667-529E-4DD7-AC4F-BC95062AE014}"/>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COMPLEX DECISIONS</a:t>
            </a:r>
          </a:p>
        </p:txBody>
      </p:sp>
      <p:sp>
        <p:nvSpPr>
          <p:cNvPr id="2" name="">
            <a:extLst xmlns:a="http://schemas.openxmlformats.org/drawingml/2006/main">
              <a:ext uri="{FF2B5EF4-FFF2-40B4-BE49-F238E27FC236}">
                <a16:creationId xmlns:a16="http://schemas.microsoft.com/office/drawing/2014/main" id="{BA4619F7-4E8D-4C9D-88DE-BF393C5E1D90}"/>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7 / 18</a:t>
            </a:r>
          </a:p>
        </p:txBody>
      </p:sp>
      <p:sp>
        <p:nvSpPr>
          <p:cNvPr id="3" name="">
            <a:extLst xmlns:a="http://schemas.openxmlformats.org/drawingml/2006/main">
              <a:ext uri="{FF2B5EF4-FFF2-40B4-BE49-F238E27FC236}">
                <a16:creationId xmlns:a16="http://schemas.microsoft.com/office/drawing/2014/main" id="{4CC9FA2C-8A60-4235-BABC-9B0776BE0CB7}"/>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Repair cost and a recoverable commitment</a:t>
            </a:r>
          </a:p>
        </p:txBody>
      </p:sp>
      <p:sp>
        <p:nvSpPr>
          <p:cNvPr id="4" name="">
            <a:extLst xmlns:a="http://schemas.openxmlformats.org/drawingml/2006/main">
              <a:ext uri="{FF2B5EF4-FFF2-40B4-BE49-F238E27FC236}">
                <a16:creationId xmlns:a16="http://schemas.microsoft.com/office/drawing/2014/main" id="{DB88C48C-1F4B-405E-BB32-AF6634A0461A}"/>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The original mech bay connects component information to the machine. The portfolio prototype extends it with explicit cost review and cancellation.</a:t>
            </a:r>
          </a:p>
        </p:txBody>
      </p:sp>
      <p:pic>
        <p:nvPicPr>
          <p:cNvPr id="5" name="">
            <a:extLst xmlns:a="http://schemas.openxmlformats.org/drawingml/2006/main">
              <a:ext uri="{FF2B5EF4-FFF2-40B4-BE49-F238E27FC236}">
                <a16:creationId xmlns:a16="http://schemas.microsoft.com/office/drawing/2014/main" id="{547E40BC-5B5A-429F-B76A-9155FEAFF9CA}"/>
              </a:ext>
            </a:extLst>
          </p:cNvPr>
          <p:cNvPicPr>
            <a:picLocks xmlns:a="http://schemas.openxmlformats.org/drawingml/2006/main" noChangeAspect="1"/>
          </p:cNvPicPr>
          <p:nvPr/>
        </p:nvPicPr>
        <p:blipFill>
          <a:blip xmlns:r="http://schemas.openxmlformats.org/officeDocument/2006/relationships" xmlns:a="http://schemas.openxmlformats.org/drawingml/2006/main" r:embed="R0afb488c5b844f7c"/>
          <a:stretch xmlns:a="http://schemas.openxmlformats.org/drawingml/2006/main"/>
        </p:blipFill>
        <p:spPr>
          <a:xfrm xmlns:a="http://schemas.openxmlformats.org/drawingml/2006/main">
            <a:off x="1172633" y="2724150"/>
            <a:ext cx="6265333"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5344985-F3AC-4AA4-BA7B-72BE479DC773}"/>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Original artifact: component labels, repair status, cost, and time.</a:t>
            </a:r>
          </a:p>
        </p:txBody>
      </p:sp>
      <p:sp>
        <p:nvSpPr>
          <p:cNvPr id="7" name="">
            <a:extLst xmlns:a="http://schemas.openxmlformats.org/drawingml/2006/main">
              <a:ext uri="{FF2B5EF4-FFF2-40B4-BE49-F238E27FC236}">
                <a16:creationId xmlns:a16="http://schemas.microsoft.com/office/drawing/2014/main" id="{0312BE57-81C2-47EF-966B-FF1C20609670}"/>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New proposal: review, confirm, and return with the contract selection retained.</a:t>
            </a:r>
          </a:p>
        </p:txBody>
      </p:sp>
    </p:spTree>
    <p:extLst>
      <p:ext uri="{BB962C8B-B14F-4D97-AF65-F5344CB8AC3E}">
        <p14:creationId xmlns:p14="http://schemas.microsoft.com/office/powerpoint/2010/main" val="1435015413"/>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3D5690-87E5-4F25-BE50-4107B0EBB7E2}"/>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A CONCEPT REVISITED</a:t>
            </a:r>
          </a:p>
        </p:txBody>
      </p:sp>
      <p:sp>
        <p:nvSpPr>
          <p:cNvPr id="2" name="">
            <a:extLst xmlns:a="http://schemas.openxmlformats.org/drawingml/2006/main">
              <a:ext uri="{FF2B5EF4-FFF2-40B4-BE49-F238E27FC236}">
                <a16:creationId xmlns:a16="http://schemas.microsoft.com/office/drawing/2014/main" id="{D3F3EBC8-352A-4B25-AEDF-1CB6DEB61784}"/>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8 / 18</a:t>
            </a:r>
          </a:p>
        </p:txBody>
      </p:sp>
      <p:sp>
        <p:nvSpPr>
          <p:cNvPr id="3" name="">
            <a:extLst xmlns:a="http://schemas.openxmlformats.org/drawingml/2006/main">
              <a:ext uri="{FF2B5EF4-FFF2-40B4-BE49-F238E27FC236}">
                <a16:creationId xmlns:a16="http://schemas.microsoft.com/office/drawing/2014/main" id="{E68A830D-EC20-40D3-BECD-89E298C60F0D}"/>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Vanguard: the starting point</a:t>
            </a:r>
          </a:p>
        </p:txBody>
      </p:sp>
      <p:sp>
        <p:nvSpPr>
          <p:cNvPr id="4" name="">
            <a:extLst xmlns:a="http://schemas.openxmlformats.org/drawingml/2006/main">
              <a:ext uri="{FF2B5EF4-FFF2-40B4-BE49-F238E27FC236}">
                <a16:creationId xmlns:a16="http://schemas.microsoft.com/office/drawing/2014/main" id="{9D8FE391-1896-413C-A961-9B298BD4B330}"/>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The concept communicates a strong world. Repeated numerical ratings and unnamed equipment make the actual choice harder to interpret.</a:t>
            </a:r>
          </a:p>
        </p:txBody>
      </p:sp>
      <p:pic>
        <p:nvPicPr>
          <p:cNvPr id="5" name="">
            <a:extLst xmlns:a="http://schemas.openxmlformats.org/drawingml/2006/main">
              <a:ext uri="{FF2B5EF4-FFF2-40B4-BE49-F238E27FC236}">
                <a16:creationId xmlns:a16="http://schemas.microsoft.com/office/drawing/2014/main" id="{F1E6031C-24EB-412F-8844-BE19DCF59C4C}"/>
              </a:ext>
            </a:extLst>
          </p:cNvPr>
          <p:cNvPicPr>
            <a:picLocks xmlns:a="http://schemas.openxmlformats.org/drawingml/2006/main" noChangeAspect="1"/>
          </p:cNvPicPr>
          <p:nvPr/>
        </p:nvPicPr>
        <p:blipFill>
          <a:blip xmlns:r="http://schemas.openxmlformats.org/officeDocument/2006/relationships" xmlns:a="http://schemas.openxmlformats.org/drawingml/2006/main" r:embed="R736af5bf754c4328"/>
          <a:stretch xmlns:a="http://schemas.openxmlformats.org/drawingml/2006/main"/>
        </p:blipFill>
        <p:spPr>
          <a:xfrm xmlns:a="http://schemas.openxmlformats.org/drawingml/2006/main">
            <a:off x="1174298" y="2724150"/>
            <a:ext cx="6262004"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E1AA52-F971-4253-B349-8AE87EA784F1}"/>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What does a rating of 9 mean?</a:t>
            </a:r>
          </a:p>
        </p:txBody>
      </p:sp>
      <p:sp>
        <p:nvSpPr>
          <p:cNvPr id="7" name="">
            <a:extLst xmlns:a="http://schemas.openxmlformats.org/drawingml/2006/main">
              <a:ext uri="{FF2B5EF4-FFF2-40B4-BE49-F238E27FC236}">
                <a16:creationId xmlns:a16="http://schemas.microsoft.com/office/drawing/2014/main" id="{E63C494C-0529-45FD-8BFC-3424E4B3AF72}"/>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Which item is equipped, and what will Fight do?</a:t>
            </a:r>
          </a:p>
        </p:txBody>
      </p:sp>
    </p:spTree>
    <p:extLst>
      <p:ext uri="{BB962C8B-B14F-4D97-AF65-F5344CB8AC3E}">
        <p14:creationId xmlns:p14="http://schemas.microsoft.com/office/powerpoint/2010/main" val="1952552113"/>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BCBE4F-836B-4ED3-B440-2FECCAC17D6C}"/>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A CONCEPT REVISITED</a:t>
            </a:r>
          </a:p>
        </p:txBody>
      </p:sp>
      <p:sp>
        <p:nvSpPr>
          <p:cNvPr id="2" name="">
            <a:extLst xmlns:a="http://schemas.openxmlformats.org/drawingml/2006/main">
              <a:ext uri="{FF2B5EF4-FFF2-40B4-BE49-F238E27FC236}">
                <a16:creationId xmlns:a16="http://schemas.microsoft.com/office/drawing/2014/main" id="{492A9032-5104-42D1-A92D-530607EDA2E5}"/>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9 / 18</a:t>
            </a:r>
          </a:p>
        </p:txBody>
      </p:sp>
      <p:sp>
        <p:nvSpPr>
          <p:cNvPr id="3" name="">
            <a:extLst xmlns:a="http://schemas.openxmlformats.org/drawingml/2006/main">
              <a:ext uri="{FF2B5EF4-FFF2-40B4-BE49-F238E27FC236}">
                <a16:creationId xmlns:a16="http://schemas.microsoft.com/office/drawing/2014/main" id="{E3446BD7-FFD8-4152-A7D7-6FFA9210DD69}"/>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The role needs a readable trade-off</a:t>
            </a:r>
          </a:p>
        </p:txBody>
      </p:sp>
      <p:sp>
        <p:nvSpPr>
          <p:cNvPr id="4" name="">
            <a:extLst xmlns:a="http://schemas.openxmlformats.org/drawingml/2006/main">
              <a:ext uri="{FF2B5EF4-FFF2-40B4-BE49-F238E27FC236}">
                <a16:creationId xmlns:a16="http://schemas.microsoft.com/office/drawing/2014/main" id="{BD697A53-77C1-4AD7-ACA0-B8E397E113AC}"/>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The revised concept pairs a role description with relative traits and named equipment before asking the player to review the loadout.</a:t>
            </a:r>
          </a:p>
        </p:txBody>
      </p:sp>
      <p:pic>
        <p:nvPicPr>
          <p:cNvPr id="5" name="">
            <a:extLst xmlns:a="http://schemas.openxmlformats.org/drawingml/2006/main">
              <a:ext uri="{FF2B5EF4-FFF2-40B4-BE49-F238E27FC236}">
                <a16:creationId xmlns:a16="http://schemas.microsoft.com/office/drawing/2014/main" id="{DB50F4D6-34DB-49AA-BDAE-CF50C968589C}"/>
              </a:ext>
            </a:extLst>
          </p:cNvPr>
          <p:cNvPicPr>
            <a:picLocks xmlns:a="http://schemas.openxmlformats.org/drawingml/2006/main" noChangeAspect="1"/>
          </p:cNvPicPr>
          <p:nvPr/>
        </p:nvPicPr>
        <p:blipFill>
          <a:blip xmlns:r="http://schemas.openxmlformats.org/officeDocument/2006/relationships" xmlns:a="http://schemas.openxmlformats.org/drawingml/2006/main" r:embed="Rfc058e483f8b4521"/>
          <a:stretch xmlns:a="http://schemas.openxmlformats.org/drawingml/2006/main"/>
        </p:blipFill>
        <p:spPr>
          <a:xfrm xmlns:a="http://schemas.openxmlformats.org/drawingml/2006/main">
            <a:off x="1174298" y="2724150"/>
            <a:ext cx="6262004"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024E54D-300F-48AE-9A03-0620A36879BD}"/>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Reach, mobility, and protection explain the proposed role.</a:t>
            </a:r>
          </a:p>
        </p:txBody>
      </p:sp>
      <p:sp>
        <p:nvSpPr>
          <p:cNvPr id="7" name="">
            <a:extLst xmlns:a="http://schemas.openxmlformats.org/drawingml/2006/main">
              <a:ext uri="{FF2B5EF4-FFF2-40B4-BE49-F238E27FC236}">
                <a16:creationId xmlns:a16="http://schemas.microsoft.com/office/drawing/2014/main" id="{5D6F98B8-2CC1-4BDD-ABB6-0A2D80B35EB8}"/>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Equipped labels make the current state explicit.</a:t>
            </a:r>
          </a:p>
        </p:txBody>
      </p:sp>
    </p:spTree>
    <p:extLst>
      <p:ext uri="{BB962C8B-B14F-4D97-AF65-F5344CB8AC3E}">
        <p14:creationId xmlns:p14="http://schemas.microsoft.com/office/powerpoint/2010/main" val="685063186"/>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6ADD58-62AA-4BB4-B0E7-F88E5949323B}"/>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A CONCEPT REVISITED</a:t>
            </a:r>
          </a:p>
        </p:txBody>
      </p:sp>
      <p:sp>
        <p:nvSpPr>
          <p:cNvPr id="2" name="">
            <a:extLst xmlns:a="http://schemas.openxmlformats.org/drawingml/2006/main">
              <a:ext uri="{FF2B5EF4-FFF2-40B4-BE49-F238E27FC236}">
                <a16:creationId xmlns:a16="http://schemas.microsoft.com/office/drawing/2014/main" id="{4876BE45-1E1D-476F-93C2-8D34C5FF3D4D}"/>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10 / 18</a:t>
            </a:r>
          </a:p>
        </p:txBody>
      </p:sp>
      <p:sp>
        <p:nvSpPr>
          <p:cNvPr id="3" name="">
            <a:extLst xmlns:a="http://schemas.openxmlformats.org/drawingml/2006/main">
              <a:ext uri="{FF2B5EF4-FFF2-40B4-BE49-F238E27FC236}">
                <a16:creationId xmlns:a16="http://schemas.microsoft.com/office/drawing/2014/main" id="{10D3B1F2-0E7C-43CC-AC93-724859C5E8CF}"/>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Preview and equip are different actions</a:t>
            </a:r>
          </a:p>
        </p:txBody>
      </p:sp>
      <p:sp>
        <p:nvSpPr>
          <p:cNvPr id="4" name="">
            <a:extLst xmlns:a="http://schemas.openxmlformats.org/drawingml/2006/main">
              <a:ext uri="{FF2B5EF4-FFF2-40B4-BE49-F238E27FC236}">
                <a16:creationId xmlns:a16="http://schemas.microsoft.com/office/drawing/2014/main" id="{DEA497DB-12D9-41DB-AD83-5F4389081A2A}"/>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Equipped, Preview, and Locked describe distinct states. Comparing a weapon should leave the current loadout intact until the player applies the change.</a:t>
            </a:r>
          </a:p>
        </p:txBody>
      </p:sp>
      <p:pic>
        <p:nvPicPr>
          <p:cNvPr id="5" name="">
            <a:extLst xmlns:a="http://schemas.openxmlformats.org/drawingml/2006/main">
              <a:ext uri="{FF2B5EF4-FFF2-40B4-BE49-F238E27FC236}">
                <a16:creationId xmlns:a16="http://schemas.microsoft.com/office/drawing/2014/main" id="{FC2F7683-0B1B-4DC8-9C52-D89BB05E5D3B}"/>
              </a:ext>
            </a:extLst>
          </p:cNvPr>
          <p:cNvPicPr>
            <a:picLocks xmlns:a="http://schemas.openxmlformats.org/drawingml/2006/main" noChangeAspect="1"/>
          </p:cNvPicPr>
          <p:nvPr/>
        </p:nvPicPr>
        <p:blipFill>
          <a:blip xmlns:r="http://schemas.openxmlformats.org/officeDocument/2006/relationships" xmlns:a="http://schemas.openxmlformats.org/drawingml/2006/main" r:embed="Ra9e96e5ea4414481"/>
          <a:stretch xmlns:a="http://schemas.openxmlformats.org/drawingml/2006/main"/>
        </p:blipFill>
        <p:spPr>
          <a:xfrm xmlns:a="http://schemas.openxmlformats.org/drawingml/2006/main">
            <a:off x="1174298" y="2724150"/>
            <a:ext cx="6262004"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B11F75C-A428-4781-A8CA-40622583E949}"/>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Cancel keeps the halberd.</a:t>
            </a:r>
          </a:p>
        </p:txBody>
      </p:sp>
      <p:sp>
        <p:nvSpPr>
          <p:cNvPr id="7" name="">
            <a:extLst xmlns:a="http://schemas.openxmlformats.org/drawingml/2006/main">
              <a:ext uri="{FF2B5EF4-FFF2-40B4-BE49-F238E27FC236}">
                <a16:creationId xmlns:a16="http://schemas.microsoft.com/office/drawing/2014/main" id="{D97F79E3-ECE2-4EC1-A281-F6979697B596}"/>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Equip commits the poleaxe.</a:t>
            </a:r>
          </a:p>
        </p:txBody>
      </p:sp>
      <p:sp>
        <p:nvSpPr>
          <p:cNvPr id="8" name="">
            <a:extLst xmlns:a="http://schemas.openxmlformats.org/drawingml/2006/main">
              <a:ext uri="{FF2B5EF4-FFF2-40B4-BE49-F238E27FC236}">
                <a16:creationId xmlns:a16="http://schemas.microsoft.com/office/drawing/2014/main" id="{930066A2-CC5F-4359-A4A5-B4DC5280D419}"/>
              </a:ext>
            </a:extLst>
          </p:cNvPr>
          <p:cNvSpPr>
            <a:spLocks xmlns:a="http://schemas.openxmlformats.org/drawingml/2006/main" noGrp="1"/>
          </p:cNvSpPr>
          <p:nvPr/>
        </p:nvSpPr>
        <p:spPr>
          <a:xfrm xmlns:a="http://schemas.openxmlformats.org/drawingml/2006/main">
            <a:off x="8486775" y="53149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A locked item explains the example rank requirement.</a:t>
            </a:r>
          </a:p>
        </p:txBody>
      </p:sp>
    </p:spTree>
    <p:extLst>
      <p:ext uri="{BB962C8B-B14F-4D97-AF65-F5344CB8AC3E}">
        <p14:creationId xmlns:p14="http://schemas.microsoft.com/office/powerpoint/2010/main" val="1421782031"/>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94EF6C-9DB7-45FF-A2D8-B7C02294C332}"/>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A CONCEPT REVISITED</a:t>
            </a:r>
          </a:p>
        </p:txBody>
      </p:sp>
      <p:sp>
        <p:nvSpPr>
          <p:cNvPr id="2" name="">
            <a:extLst xmlns:a="http://schemas.openxmlformats.org/drawingml/2006/main">
              <a:ext uri="{FF2B5EF4-FFF2-40B4-BE49-F238E27FC236}">
                <a16:creationId xmlns:a16="http://schemas.microsoft.com/office/drawing/2014/main" id="{71235E8D-D602-4DE4-95DE-9C7934E9DEE1}"/>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11 / 18</a:t>
            </a:r>
          </a:p>
        </p:txBody>
      </p:sp>
      <p:sp>
        <p:nvSpPr>
          <p:cNvPr id="3" name="">
            <a:extLst xmlns:a="http://schemas.openxmlformats.org/drawingml/2006/main">
              <a:ext uri="{FF2B5EF4-FFF2-40B4-BE49-F238E27FC236}">
                <a16:creationId xmlns:a16="http://schemas.microsoft.com/office/drawing/2014/main" id="{28351A47-5A4F-4BA5-B2CA-0B2235D55ED3}"/>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Review, deploy, and recover</a:t>
            </a:r>
          </a:p>
        </p:txBody>
      </p:sp>
      <p:sp>
        <p:nvSpPr>
          <p:cNvPr id="4" name="">
            <a:extLst xmlns:a="http://schemas.openxmlformats.org/drawingml/2006/main">
              <a:ext uri="{FF2B5EF4-FFF2-40B4-BE49-F238E27FC236}">
                <a16:creationId xmlns:a16="http://schemas.microsoft.com/office/drawing/2014/main" id="{1CD279FB-F087-4F93-B431-8E921FEE2B2A}"/>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The review brings the selection together. Deploy begins joining, while a failed join keeps the player’s choices available for retry.</a:t>
            </a:r>
          </a:p>
        </p:txBody>
      </p:sp>
      <p:pic>
        <p:nvPicPr>
          <p:cNvPr id="5" name="">
            <a:extLst xmlns:a="http://schemas.openxmlformats.org/drawingml/2006/main">
              <a:ext uri="{FF2B5EF4-FFF2-40B4-BE49-F238E27FC236}">
                <a16:creationId xmlns:a16="http://schemas.microsoft.com/office/drawing/2014/main" id="{7DDA93D3-0A1E-4DF6-9B98-D80D8734A14D}"/>
              </a:ext>
            </a:extLst>
          </p:cNvPr>
          <p:cNvPicPr>
            <a:picLocks xmlns:a="http://schemas.openxmlformats.org/drawingml/2006/main" noChangeAspect="1"/>
          </p:cNvPicPr>
          <p:nvPr/>
        </p:nvPicPr>
        <p:blipFill>
          <a:blip xmlns:r="http://schemas.openxmlformats.org/officeDocument/2006/relationships" xmlns:a="http://schemas.openxmlformats.org/drawingml/2006/main" r:embed="R8efd25eea06d4dc7"/>
          <a:stretch xmlns:a="http://schemas.openxmlformats.org/drawingml/2006/main"/>
        </p:blipFill>
        <p:spPr>
          <a:xfrm xmlns:a="http://schemas.openxmlformats.org/drawingml/2006/main">
            <a:off x="1174298" y="2724150"/>
            <a:ext cx="6262004"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DC8E31-A620-470F-9736-6D2294A863EE}"/>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A completed path confirms the loadout and the joining state.</a:t>
            </a:r>
          </a:p>
        </p:txBody>
      </p:sp>
      <p:sp>
        <p:nvSpPr>
          <p:cNvPr id="7" name="">
            <a:extLst xmlns:a="http://schemas.openxmlformats.org/drawingml/2006/main">
              <a:ext uri="{FF2B5EF4-FFF2-40B4-BE49-F238E27FC236}">
                <a16:creationId xmlns:a16="http://schemas.microsoft.com/office/drawing/2014/main" id="{4BE13EDF-A2C8-4E44-9AC4-BD044E42BE32}"/>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Cancel and failed joins preserve deliberate choices.</a:t>
            </a:r>
          </a:p>
        </p:txBody>
      </p:sp>
    </p:spTree>
    <p:extLst>
      <p:ext uri="{BB962C8B-B14F-4D97-AF65-F5344CB8AC3E}">
        <p14:creationId xmlns:p14="http://schemas.microsoft.com/office/powerpoint/2010/main" val="1365956953"/>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C5BE294-80EC-4644-9C7C-99316184A991}"/>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3872CC35-1DFC-4D24-8A40-B78EF8FF4981}"/>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12 / 18</a:t>
            </a:r>
          </a:p>
        </p:txBody>
      </p:sp>
      <p:sp>
        <p:nvSpPr>
          <p:cNvPr id="3" name="">
            <a:extLst xmlns:a="http://schemas.openxmlformats.org/drawingml/2006/main">
              <a:ext uri="{FF2B5EF4-FFF2-40B4-BE49-F238E27FC236}">
                <a16:creationId xmlns:a16="http://schemas.microsoft.com/office/drawing/2014/main" id="{1B88F7D0-FA8D-47B8-89E8-C7724F21485C}"/>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What I would test next</a:t>
            </a:r>
          </a:p>
        </p:txBody>
      </p:sp>
      <p:sp>
        <p:nvSpPr>
          <p:cNvPr id="4" name="">
            <a:extLst xmlns:a="http://schemas.openxmlformats.org/drawingml/2006/main">
              <a:ext uri="{FF2B5EF4-FFF2-40B4-BE49-F238E27FC236}">
                <a16:creationId xmlns:a16="http://schemas.microsoft.com/office/drawing/2014/main" id="{1AD5BFE9-E45C-4637-B65A-27C233819C57}"/>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Proposed Vanguard usability session with 5–6 players of mixed genre familiarity. These are future checks, not completed findings.</a:t>
            </a:r>
          </a:p>
        </p:txBody>
      </p:sp>
      <p:sp>
        <p:nvSpPr>
          <p:cNvPr id="5" name="">
            <a:extLst xmlns:a="http://schemas.openxmlformats.org/drawingml/2006/main">
              <a:ext uri="{FF2B5EF4-FFF2-40B4-BE49-F238E27FC236}">
                <a16:creationId xmlns:a16="http://schemas.microsoft.com/office/drawing/2014/main" id="{35A2E90E-715A-4102-9914-54D383319DD9}"/>
              </a:ext>
            </a:extLst>
          </p:cNvPr>
          <p:cNvSpPr>
            <a:spLocks xmlns:a="http://schemas.openxmlformats.org/drawingml/2006/main" noGrp="1"/>
          </p:cNvSpPr>
          <p:nvPr/>
        </p:nvSpPr>
        <p:spPr>
          <a:xfrm xmlns:a="http://schemas.openxmlformats.org/drawingml/2006/main">
            <a:off x="514350" y="2790825"/>
            <a:ext cx="709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Explain the class trade-off without prompting.</a:t>
            </a:r>
          </a:p>
        </p:txBody>
      </p:sp>
      <p:sp>
        <p:nvSpPr>
          <p:cNvPr id="6" name="">
            <a:extLst xmlns:a="http://schemas.openxmlformats.org/drawingml/2006/main">
              <a:ext uri="{FF2B5EF4-FFF2-40B4-BE49-F238E27FC236}">
                <a16:creationId xmlns:a16="http://schemas.microsoft.com/office/drawing/2014/main" id="{80E14A5E-2D1A-4165-8E50-AF3D6FD236DB}"/>
              </a:ext>
            </a:extLst>
          </p:cNvPr>
          <p:cNvSpPr>
            <a:spLocks xmlns:a="http://schemas.openxmlformats.org/drawingml/2006/main" noGrp="1"/>
          </p:cNvSpPr>
          <p:nvPr/>
        </p:nvSpPr>
        <p:spPr>
          <a:xfrm xmlns:a="http://schemas.openxmlformats.org/drawingml/2006/main">
            <a:off x="514350" y="3629025"/>
            <a:ext cx="709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Preview and cancel a swap, then identify the equipped weapon.</a:t>
            </a:r>
          </a:p>
        </p:txBody>
      </p:sp>
      <p:sp>
        <p:nvSpPr>
          <p:cNvPr id="7" name="">
            <a:extLst xmlns:a="http://schemas.openxmlformats.org/drawingml/2006/main">
              <a:ext uri="{FF2B5EF4-FFF2-40B4-BE49-F238E27FC236}">
                <a16:creationId xmlns:a16="http://schemas.microsoft.com/office/drawing/2014/main" id="{0162B08B-A155-4173-B262-FE5DB8480B48}"/>
              </a:ext>
            </a:extLst>
          </p:cNvPr>
          <p:cNvSpPr>
            <a:spLocks xmlns:a="http://schemas.openxmlformats.org/drawingml/2006/main" noGrp="1"/>
          </p:cNvSpPr>
          <p:nvPr/>
        </p:nvSpPr>
        <p:spPr>
          <a:xfrm xmlns:a="http://schemas.openxmlformats.org/drawingml/2006/main">
            <a:off x="514350" y="4467225"/>
            <a:ext cx="709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Inspect a locked item and recover from a failed join.</a:t>
            </a:r>
          </a:p>
        </p:txBody>
      </p:sp>
      <p:sp>
        <p:nvSpPr>
          <p:cNvPr id="8" name="">
            <a:extLst xmlns:a="http://schemas.openxmlformats.org/drawingml/2006/main">
              <a:ext uri="{FF2B5EF4-FFF2-40B4-BE49-F238E27FC236}">
                <a16:creationId xmlns:a16="http://schemas.microsoft.com/office/drawing/2014/main" id="{CD4EAF87-F85C-4FC8-A6A4-2B037D613E7F}"/>
              </a:ext>
            </a:extLst>
          </p:cNvPr>
          <p:cNvSpPr>
            <a:spLocks xmlns:a="http://schemas.openxmlformats.org/drawingml/2006/main" noGrp="1"/>
          </p:cNvSpPr>
          <p:nvPr/>
        </p:nvSpPr>
        <p:spPr>
          <a:xfrm xmlns:a="http://schemas.openxmlformats.org/drawingml/2006/main">
            <a:off x="514350" y="5305425"/>
            <a:ext cx="709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Repeat core tasks with keyboard input and check focus and reading order.</a:t>
            </a:r>
          </a:p>
        </p:txBody>
      </p:sp>
      <p:sp>
        <p:nvSpPr>
          <p:cNvPr id="9" name="">
            <a:extLst xmlns:a="http://schemas.openxmlformats.org/drawingml/2006/main">
              <a:ext uri="{FF2B5EF4-FFF2-40B4-BE49-F238E27FC236}">
                <a16:creationId xmlns:a16="http://schemas.microsoft.com/office/drawing/2014/main" id="{58541DC0-75F1-4F82-BBDC-15EB655C3097}"/>
              </a:ext>
            </a:extLst>
          </p:cNvPr>
          <p:cNvSpPr>
            <a:spLocks xmlns:a="http://schemas.openxmlformats.org/drawingml/2006/main" noGrp="1"/>
          </p:cNvSpPr>
          <p:nvPr/>
        </p:nvSpPr>
        <p:spPr>
          <a:xfrm xmlns:a="http://schemas.openxmlformats.org/drawingml/2006/main">
            <a:off x="8191500" y="29527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5633E"/>
                </a:solidFill>
                <a:latin typeface="Arial"/>
                <a:ea typeface="Arial"/>
                <a:cs typeface="Arial"/>
              </a:defRPr>
            </a:defPPr>
          </a:lstStyle>
          <a:p xmlns:a="http://schemas.openxmlformats.org/drawingml/2006/main">
            <a:pPr>
              <a:defRPr sz="2025" b="0">
                <a:solidFill>
                  <a:srgbClr val="45633E"/>
                </a:solidFill>
                <a:latin typeface="Arial"/>
                <a:ea typeface="Arial"/>
                <a:cs typeface="Arial"/>
              </a:defRPr>
            </a:pPr>
            <a:r>
              <a:rPr sz="2025" b="0">
                <a:solidFill>
                  <a:srgbClr val="45633E"/>
                </a:solidFill>
                <a:latin typeface="Arial"/>
                <a:ea typeface="Arial"/>
                <a:cs typeface="Arial"/>
              </a:rPr>
              <a:t>Observed findings</a:t>
            </a:r>
          </a:p>
        </p:txBody>
      </p:sp>
      <p:sp>
        <p:nvSpPr>
          <p:cNvPr id="10" name="">
            <a:extLst xmlns:a="http://schemas.openxmlformats.org/drawingml/2006/main">
              <a:ext uri="{FF2B5EF4-FFF2-40B4-BE49-F238E27FC236}">
                <a16:creationId xmlns:a16="http://schemas.microsoft.com/office/drawing/2014/main" id="{7D2FB236-F455-48E2-B932-DD267E41EBC7}"/>
              </a:ext>
            </a:extLst>
          </p:cNvPr>
          <p:cNvSpPr>
            <a:spLocks xmlns:a="http://schemas.openxmlformats.org/drawingml/2006/main" noGrp="1"/>
          </p:cNvSpPr>
          <p:nvPr/>
        </p:nvSpPr>
        <p:spPr>
          <a:xfrm xmlns:a="http://schemas.openxmlformats.org/drawingml/2006/main">
            <a:off x="8191500" y="45339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45633E"/>
                </a:solidFill>
                <a:latin typeface="Arial"/>
                <a:ea typeface="Arial"/>
                <a:cs typeface="Arial"/>
              </a:defRPr>
            </a:defPPr>
          </a:lstStyle>
          <a:p xmlns:a="http://schemas.openxmlformats.org/drawingml/2006/main">
            <a:pPr>
              <a:defRPr sz="2025" b="0">
                <a:solidFill>
                  <a:srgbClr val="45633E"/>
                </a:solidFill>
                <a:latin typeface="Arial"/>
                <a:ea typeface="Arial"/>
                <a:cs typeface="Arial"/>
              </a:defRPr>
            </a:pPr>
            <a:r>
              <a:rPr sz="2025" b="0">
                <a:solidFill>
                  <a:srgbClr val="45633E"/>
                </a:solidFill>
                <a:latin typeface="Arial"/>
                <a:ea typeface="Arial"/>
                <a:cs typeface="Arial"/>
              </a:rPr>
              <a:t>Design changes after testing</a:t>
            </a:r>
          </a:p>
        </p:txBody>
      </p:sp>
      <p:sp>
        <p:nvSpPr>
          <p:cNvPr id="11" name="">
            <a:extLst xmlns:a="http://schemas.openxmlformats.org/drawingml/2006/main">
              <a:ext uri="{FF2B5EF4-FFF2-40B4-BE49-F238E27FC236}">
                <a16:creationId xmlns:a16="http://schemas.microsoft.com/office/drawing/2014/main" id="{B3EBA34B-6BA6-4B93-BE23-CC203F48D842}"/>
              </a:ext>
            </a:extLst>
          </p:cNvPr>
          <p:cNvSpPr>
            <a:spLocks xmlns:a="http://schemas.openxmlformats.org/drawingml/2006/main" noGrp="1"/>
          </p:cNvSpPr>
          <p:nvPr/>
        </p:nvSpPr>
        <p:spPr>
          <a:xfrm xmlns:a="http://schemas.openxmlformats.org/drawingml/2006/main">
            <a:off x="8191500" y="5991225"/>
            <a:ext cx="333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2685D"/>
                </a:solidFill>
                <a:latin typeface="Arial"/>
                <a:ea typeface="Arial"/>
                <a:cs typeface="Arial"/>
              </a:defRPr>
            </a:defPPr>
          </a:lstStyle>
          <a:p xmlns:a="http://schemas.openxmlformats.org/drawingml/2006/main">
            <a:pPr>
              <a:defRPr sz="1350" b="0">
                <a:solidFill>
                  <a:srgbClr val="62685D"/>
                </a:solidFill>
                <a:latin typeface="Arial"/>
                <a:ea typeface="Arial"/>
                <a:cs typeface="Arial"/>
              </a:defRPr>
            </a:pPr>
            <a:r>
              <a:rPr sz="1350" b="0">
                <a:solidFill>
                  <a:srgbClr val="62685D"/>
                </a:solidFill>
                <a:latin typeface="Arial"/>
                <a:ea typeface="Arial"/>
                <a:cs typeface="Arial"/>
              </a:rPr>
              <a:t>Evidence areas intentionally blank</a:t>
            </a:r>
          </a:p>
        </p:txBody>
      </p:sp>
    </p:spTree>
    <p:extLst>
      <p:ext uri="{BB962C8B-B14F-4D97-AF65-F5344CB8AC3E}">
        <p14:creationId xmlns:p14="http://schemas.microsoft.com/office/powerpoint/2010/main" val="147602458"/>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CE1D8A1-21EA-4DED-A3D2-091E06C834FE}"/>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EDUCATIONAL INTERLUDE</a:t>
            </a:r>
          </a:p>
        </p:txBody>
      </p:sp>
      <p:sp>
        <p:nvSpPr>
          <p:cNvPr id="2" name="">
            <a:extLst xmlns:a="http://schemas.openxmlformats.org/drawingml/2006/main">
              <a:ext uri="{FF2B5EF4-FFF2-40B4-BE49-F238E27FC236}">
                <a16:creationId xmlns:a16="http://schemas.microsoft.com/office/drawing/2014/main" id="{FE20B237-EBEF-44CA-BB06-30719D3D7CFF}"/>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13 / 18</a:t>
            </a:r>
          </a:p>
        </p:txBody>
      </p:sp>
      <p:sp>
        <p:nvSpPr>
          <p:cNvPr id="3" name="">
            <a:extLst xmlns:a="http://schemas.openxmlformats.org/drawingml/2006/main">
              <a:ext uri="{FF2B5EF4-FFF2-40B4-BE49-F238E27FC236}">
                <a16:creationId xmlns:a16="http://schemas.microsoft.com/office/drawing/2014/main" id="{C51B1D66-3F25-403E-A44D-E2F8ADF7BD9C}"/>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Greyboxing and art direction</a:t>
            </a:r>
          </a:p>
        </p:txBody>
      </p:sp>
      <p:sp>
        <p:nvSpPr>
          <p:cNvPr id="4" name="">
            <a:extLst xmlns:a="http://schemas.openxmlformats.org/drawingml/2006/main">
              <a:ext uri="{FF2B5EF4-FFF2-40B4-BE49-F238E27FC236}">
                <a16:creationId xmlns:a16="http://schemas.microsoft.com/office/drawing/2014/main" id="{C621C2FE-42C9-4C85-8437-252E60CE7AE3}"/>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The same foundational layout can communicate very different things. The greybox exposes the structure. The visual target makes the intended mood easier to imagine.</a:t>
            </a:r>
          </a:p>
        </p:txBody>
      </p:sp>
      <p:sp>
        <p:nvSpPr>
          <p:cNvPr id="5" name="">
            <a:extLst xmlns:a="http://schemas.openxmlformats.org/drawingml/2006/main">
              <a:ext uri="{FF2B5EF4-FFF2-40B4-BE49-F238E27FC236}">
                <a16:creationId xmlns:a16="http://schemas.microsoft.com/office/drawing/2014/main" id="{7379188A-398E-4069-9C45-38D4EA55513F}"/>
              </a:ext>
            </a:extLst>
          </p:cNvPr>
          <p:cNvSpPr>
            <a:spLocks xmlns:a="http://schemas.openxmlformats.org/drawingml/2006/main" noGrp="1"/>
          </p:cNvSpPr>
          <p:nvPr/>
        </p:nvSpPr>
        <p:spPr>
          <a:xfrm xmlns:a="http://schemas.openxmlformats.org/drawingml/2006/main">
            <a:off x="514350" y="2714625"/>
            <a:ext cx="523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GREYBOX</a:t>
            </a:r>
          </a:p>
        </p:txBody>
      </p:sp>
      <p:sp>
        <p:nvSpPr>
          <p:cNvPr id="6" name="">
            <a:extLst xmlns:a="http://schemas.openxmlformats.org/drawingml/2006/main">
              <a:ext uri="{FF2B5EF4-FFF2-40B4-BE49-F238E27FC236}">
                <a16:creationId xmlns:a16="http://schemas.microsoft.com/office/drawing/2014/main" id="{456F88C6-8ECB-4726-B71A-AD4171BF7F8A}"/>
              </a:ext>
            </a:extLst>
          </p:cNvPr>
          <p:cNvSpPr>
            <a:spLocks xmlns:a="http://schemas.openxmlformats.org/drawingml/2006/main" noGrp="1"/>
          </p:cNvSpPr>
          <p:nvPr/>
        </p:nvSpPr>
        <p:spPr>
          <a:xfrm xmlns:a="http://schemas.openxmlformats.org/drawingml/2006/main">
            <a:off x="6286500" y="2714625"/>
            <a:ext cx="523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VISUAL TARGET</a:t>
            </a:r>
          </a:p>
        </p:txBody>
      </p:sp>
      <p:pic>
        <p:nvPicPr>
          <p:cNvPr id="7" name="">
            <a:extLst xmlns:a="http://schemas.openxmlformats.org/drawingml/2006/main">
              <a:ext uri="{FF2B5EF4-FFF2-40B4-BE49-F238E27FC236}">
                <a16:creationId xmlns:a16="http://schemas.microsoft.com/office/drawing/2014/main" id="{BE54B565-7D3F-4364-826B-627B23EA35B0}"/>
              </a:ext>
            </a:extLst>
          </p:cNvPr>
          <p:cNvPicPr>
            <a:picLocks xmlns:a="http://schemas.openxmlformats.org/drawingml/2006/main" noChangeAspect="1"/>
          </p:cNvPicPr>
          <p:nvPr/>
        </p:nvPicPr>
        <p:blipFill>
          <a:blip xmlns:r="http://schemas.openxmlformats.org/officeDocument/2006/relationships" xmlns:a="http://schemas.openxmlformats.org/drawingml/2006/main" r:embed="R9f708a4fd1d0496d"/>
          <a:stretch xmlns:a="http://schemas.openxmlformats.org/drawingml/2006/main"/>
        </p:blipFill>
        <p:spPr>
          <a:xfrm xmlns:a="http://schemas.openxmlformats.org/drawingml/2006/main">
            <a:off x="495300" y="3115289"/>
            <a:ext cx="5381625" cy="2484797"/>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79AC53F-C13D-4B05-B876-B953C5950D3C}"/>
              </a:ext>
            </a:extLst>
          </p:cNvPr>
          <p:cNvPicPr>
            <a:picLocks xmlns:a="http://schemas.openxmlformats.org/drawingml/2006/main" noChangeAspect="1"/>
          </p:cNvPicPr>
          <p:nvPr/>
        </p:nvPicPr>
        <p:blipFill>
          <a:blip xmlns:r="http://schemas.openxmlformats.org/officeDocument/2006/relationships" xmlns:a="http://schemas.openxmlformats.org/drawingml/2006/main" r:embed="Rf13cbaf768d04acd"/>
          <a:stretch xmlns:a="http://schemas.openxmlformats.org/drawingml/2006/main"/>
        </p:blipFill>
        <p:spPr>
          <a:xfrm xmlns:a="http://schemas.openxmlformats.org/drawingml/2006/main">
            <a:off x="6286500" y="3113187"/>
            <a:ext cx="5381625" cy="248900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933E9AE-698D-4AC2-9524-02F9168065B2}"/>
              </a:ext>
            </a:extLst>
          </p:cNvPr>
          <p:cNvSpPr>
            <a:spLocks xmlns:a="http://schemas.openxmlformats.org/drawingml/2006/main" noGrp="1"/>
          </p:cNvSpPr>
          <p:nvPr/>
        </p:nvSpPr>
        <p:spPr>
          <a:xfrm xmlns:a="http://schemas.openxmlformats.org/drawingml/2006/main">
            <a:off x="514350" y="596265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62685D"/>
                </a:solidFill>
                <a:latin typeface="Arial"/>
                <a:ea typeface="Arial"/>
                <a:cs typeface="Arial"/>
              </a:defRPr>
            </a:defPPr>
          </a:lstStyle>
          <a:p xmlns:a="http://schemas.openxmlformats.org/drawingml/2006/main">
            <a:pPr>
              <a:defRPr sz="1425" b="0">
                <a:solidFill>
                  <a:srgbClr val="62685D"/>
                </a:solidFill>
                <a:latin typeface="Arial"/>
                <a:ea typeface="Arial"/>
                <a:cs typeface="Arial"/>
              </a:defRPr>
            </a:pPr>
            <a:r>
              <a:rPr sz="1425" b="0">
                <a:solidFill>
                  <a:srgbClr val="62685D"/>
                </a:solidFill>
                <a:latin typeface="Arial"/>
                <a:ea typeface="Arial"/>
                <a:cs typeface="Arial"/>
              </a:rPr>
              <a:t>Shared primary layout. Visible details and emphasis differ. The images do not establish identical interaction behaviour.</a:t>
            </a:r>
          </a:p>
        </p:txBody>
      </p:sp>
    </p:spTree>
    <p:extLst>
      <p:ext uri="{BB962C8B-B14F-4D97-AF65-F5344CB8AC3E}">
        <p14:creationId xmlns:p14="http://schemas.microsoft.com/office/powerpoint/2010/main" val="392713885"/>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8F6801-854E-4D3D-AC67-A7336D1A1728}"/>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EDUCATIONAL INTERLUDE</a:t>
            </a:r>
          </a:p>
        </p:txBody>
      </p:sp>
      <p:sp>
        <p:nvSpPr>
          <p:cNvPr id="2" name="">
            <a:extLst xmlns:a="http://schemas.openxmlformats.org/drawingml/2006/main">
              <a:ext uri="{FF2B5EF4-FFF2-40B4-BE49-F238E27FC236}">
                <a16:creationId xmlns:a16="http://schemas.microsoft.com/office/drawing/2014/main" id="{44CC51BE-EFE8-432D-88AA-76BA6EEC74D2}"/>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14 / 18</a:t>
            </a:r>
          </a:p>
        </p:txBody>
      </p:sp>
      <p:sp>
        <p:nvSpPr>
          <p:cNvPr id="3" name="">
            <a:extLst xmlns:a="http://schemas.openxmlformats.org/drawingml/2006/main">
              <a:ext uri="{FF2B5EF4-FFF2-40B4-BE49-F238E27FC236}">
                <a16:creationId xmlns:a16="http://schemas.microsoft.com/office/drawing/2014/main" id="{2D83DE19-49E5-4021-9DFB-F5AAA808DAD0}"/>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The representation changes the review</a:t>
            </a:r>
          </a:p>
        </p:txBody>
      </p:sp>
      <p:sp>
        <p:nvSpPr>
          <p:cNvPr id="4" name="">
            <a:extLst xmlns:a="http://schemas.openxmlformats.org/drawingml/2006/main">
              <a:ext uri="{FF2B5EF4-FFF2-40B4-BE49-F238E27FC236}">
                <a16:creationId xmlns:a16="http://schemas.microsoft.com/office/drawing/2014/main" id="{11744E86-D752-4AAA-8813-8787800F6853}"/>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Before showing a design, explain which decision the audience is helping you make.</a:t>
            </a:r>
          </a:p>
        </p:txBody>
      </p:sp>
      <p:sp>
        <p:nvSpPr>
          <p:cNvPr id="5" name="">
            <a:extLst xmlns:a="http://schemas.openxmlformats.org/drawingml/2006/main">
              <a:ext uri="{FF2B5EF4-FFF2-40B4-BE49-F238E27FC236}">
                <a16:creationId xmlns:a16="http://schemas.microsoft.com/office/drawing/2014/main" id="{6EB103F0-62E3-4DA1-826B-31FA57681CA2}"/>
              </a:ext>
            </a:extLst>
          </p:cNvPr>
          <p:cNvSpPr>
            <a:spLocks xmlns:a="http://schemas.openxmlformats.org/drawingml/2006/main" noGrp="1"/>
          </p:cNvSpPr>
          <p:nvPr/>
        </p:nvSpPr>
        <p:spPr>
          <a:xfrm xmlns:a="http://schemas.openxmlformats.org/drawingml/2006/main">
            <a:off x="514350" y="278130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Greybox review: can someone find the next action and understand the hierarchy?</a:t>
            </a:r>
          </a:p>
        </p:txBody>
      </p:sp>
      <p:sp>
        <p:nvSpPr>
          <p:cNvPr id="6" name="">
            <a:extLst xmlns:a="http://schemas.openxmlformats.org/drawingml/2006/main">
              <a:ext uri="{FF2B5EF4-FFF2-40B4-BE49-F238E27FC236}">
                <a16:creationId xmlns:a16="http://schemas.microsoft.com/office/drawing/2014/main" id="{499890BD-0A42-498C-BDBF-A3CF1CACEA03}"/>
              </a:ext>
            </a:extLst>
          </p:cNvPr>
          <p:cNvSpPr>
            <a:spLocks xmlns:a="http://schemas.openxmlformats.org/drawingml/2006/main" noGrp="1"/>
          </p:cNvSpPr>
          <p:nvPr/>
        </p:nvSpPr>
        <p:spPr>
          <a:xfrm xmlns:a="http://schemas.openxmlformats.org/drawingml/2006/main">
            <a:off x="514350" y="3648075"/>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Visual-target review: does the mood support the intended world, audience, and brand?</a:t>
            </a:r>
          </a:p>
        </p:txBody>
      </p:sp>
      <p:sp>
        <p:nvSpPr>
          <p:cNvPr id="7" name="">
            <a:extLst xmlns:a="http://schemas.openxmlformats.org/drawingml/2006/main">
              <a:ext uri="{FF2B5EF4-FFF2-40B4-BE49-F238E27FC236}">
                <a16:creationId xmlns:a16="http://schemas.microsoft.com/office/drawing/2014/main" id="{B0060346-2C04-48D7-8641-D3C1CD05BC81}"/>
              </a:ext>
            </a:extLst>
          </p:cNvPr>
          <p:cNvSpPr>
            <a:spLocks xmlns:a="http://schemas.openxmlformats.org/drawingml/2006/main" noGrp="1"/>
          </p:cNvSpPr>
          <p:nvPr/>
        </p:nvSpPr>
        <p:spPr>
          <a:xfrm xmlns:a="http://schemas.openxmlformats.org/drawingml/2006/main">
            <a:off x="514350" y="45148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Interactive review: can someone predict feedback, cancel safely, and recover?</a:t>
            </a:r>
          </a:p>
        </p:txBody>
      </p:sp>
      <p:sp>
        <p:nvSpPr>
          <p:cNvPr id="8" name="">
            <a:extLst xmlns:a="http://schemas.openxmlformats.org/drawingml/2006/main">
              <a:ext uri="{FF2B5EF4-FFF2-40B4-BE49-F238E27FC236}">
                <a16:creationId xmlns:a16="http://schemas.microsoft.com/office/drawing/2014/main" id="{015A3BFD-B62F-4515-A1A6-FCF4549BF895}"/>
              </a:ext>
            </a:extLst>
          </p:cNvPr>
          <p:cNvSpPr>
            <a:spLocks xmlns:a="http://schemas.openxmlformats.org/drawingml/2006/main" noGrp="1"/>
          </p:cNvSpPr>
          <p:nvPr/>
        </p:nvSpPr>
        <p:spPr>
          <a:xfrm xmlns:a="http://schemas.openxmlformats.org/drawingml/2006/main">
            <a:off x="514350" y="5381625"/>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A visual target can help communicate the vision while structural questions remain open.</a:t>
            </a:r>
          </a:p>
        </p:txBody>
      </p:sp>
    </p:spTree>
    <p:extLst>
      <p:ext uri="{BB962C8B-B14F-4D97-AF65-F5344CB8AC3E}">
        <p14:creationId xmlns:p14="http://schemas.microsoft.com/office/powerpoint/2010/main" val="128077615"/>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36D1BE-A15E-4A86-9A43-6773A0E43D64}"/>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ITERATION AND DELIVERY</a:t>
            </a:r>
          </a:p>
        </p:txBody>
      </p:sp>
      <p:sp>
        <p:nvSpPr>
          <p:cNvPr id="2" name="">
            <a:extLst xmlns:a="http://schemas.openxmlformats.org/drawingml/2006/main">
              <a:ext uri="{FF2B5EF4-FFF2-40B4-BE49-F238E27FC236}">
                <a16:creationId xmlns:a16="http://schemas.microsoft.com/office/drawing/2014/main" id="{70D734F1-B86E-4DA5-BFD1-442774FA55FC}"/>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15 / 18</a:t>
            </a:r>
          </a:p>
        </p:txBody>
      </p:sp>
      <p:sp>
        <p:nvSpPr>
          <p:cNvPr id="3" name="">
            <a:extLst xmlns:a="http://schemas.openxmlformats.org/drawingml/2006/main">
              <a:ext uri="{FF2B5EF4-FFF2-40B4-BE49-F238E27FC236}">
                <a16:creationId xmlns:a16="http://schemas.microsoft.com/office/drawing/2014/main" id="{EE6B0791-A394-4DD7-BBD7-95EDD2DAD691}"/>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The working files make the decisions traceable</a:t>
            </a:r>
          </a:p>
        </p:txBody>
      </p:sp>
      <p:sp>
        <p:nvSpPr>
          <p:cNvPr id="4" name="">
            <a:extLst xmlns:a="http://schemas.openxmlformats.org/drawingml/2006/main">
              <a:ext uri="{FF2B5EF4-FFF2-40B4-BE49-F238E27FC236}">
                <a16:creationId xmlns:a16="http://schemas.microsoft.com/office/drawing/2014/main" id="{7606A7B1-E039-490B-8399-CA1661AEE266}"/>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Wireframe flows expose relationships between screens. The existing archive includes multiple prototype rounds for the TNT card battler.</a:t>
            </a:r>
          </a:p>
        </p:txBody>
      </p:sp>
      <p:pic>
        <p:nvPicPr>
          <p:cNvPr id="5" name="">
            <a:extLst xmlns:a="http://schemas.openxmlformats.org/drawingml/2006/main">
              <a:ext uri="{FF2B5EF4-FFF2-40B4-BE49-F238E27FC236}">
                <a16:creationId xmlns:a16="http://schemas.microsoft.com/office/drawing/2014/main" id="{41F0FB19-91FC-4606-9417-DA8BA839615D}"/>
              </a:ext>
            </a:extLst>
          </p:cNvPr>
          <p:cNvPicPr>
            <a:picLocks xmlns:a="http://schemas.openxmlformats.org/drawingml/2006/main" noChangeAspect="1"/>
          </p:cNvPicPr>
          <p:nvPr/>
        </p:nvPicPr>
        <p:blipFill>
          <a:blip xmlns:r="http://schemas.openxmlformats.org/officeDocument/2006/relationships" xmlns:a="http://schemas.openxmlformats.org/drawingml/2006/main" r:embed="R8aaab1816dac4cc2"/>
          <a:stretch xmlns:a="http://schemas.openxmlformats.org/drawingml/2006/main"/>
        </p:blipFill>
        <p:spPr>
          <a:xfrm xmlns:a="http://schemas.openxmlformats.org/drawingml/2006/main">
            <a:off x="3091783" y="2724150"/>
            <a:ext cx="2427034"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F3B8EE-BCF9-4559-A0EF-08C3FCE26DCA}"/>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A branch makes screen-to-screen decisions visible.</a:t>
            </a:r>
          </a:p>
        </p:txBody>
      </p:sp>
      <p:sp>
        <p:nvSpPr>
          <p:cNvPr id="7" name="">
            <a:extLst xmlns:a="http://schemas.openxmlformats.org/drawingml/2006/main">
              <a:ext uri="{FF2B5EF4-FFF2-40B4-BE49-F238E27FC236}">
                <a16:creationId xmlns:a16="http://schemas.microsoft.com/office/drawing/2014/main" id="{35D83655-E133-40E2-9D23-BB34E31D8319}"/>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A revision needs the feedback or constraint that motivated it.</a:t>
            </a:r>
          </a:p>
        </p:txBody>
      </p:sp>
    </p:spTree>
    <p:extLst>
      <p:ext uri="{BB962C8B-B14F-4D97-AF65-F5344CB8AC3E}">
        <p14:creationId xmlns:p14="http://schemas.microsoft.com/office/powerpoint/2010/main" val="520691487"/>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5922E9-5742-4F04-851B-64787FACE28C}"/>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ITERATION AND DELIVERY</a:t>
            </a:r>
          </a:p>
        </p:txBody>
      </p:sp>
      <p:sp>
        <p:nvSpPr>
          <p:cNvPr id="2" name="">
            <a:extLst xmlns:a="http://schemas.openxmlformats.org/drawingml/2006/main">
              <a:ext uri="{FF2B5EF4-FFF2-40B4-BE49-F238E27FC236}">
                <a16:creationId xmlns:a16="http://schemas.microsoft.com/office/drawing/2014/main" id="{1852A01B-4BB9-45C1-8300-44FF75351C85}"/>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16 / 18</a:t>
            </a:r>
          </a:p>
        </p:txBody>
      </p:sp>
      <p:sp>
        <p:nvSpPr>
          <p:cNvPr id="3" name="">
            <a:extLst xmlns:a="http://schemas.openxmlformats.org/drawingml/2006/main">
              <a:ext uri="{FF2B5EF4-FFF2-40B4-BE49-F238E27FC236}">
                <a16:creationId xmlns:a16="http://schemas.microsoft.com/office/drawing/2014/main" id="{53FCE0E7-C4DC-4DC4-86E1-FB1D6D84B092}"/>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The behaviour has to survive implementation</a:t>
            </a:r>
          </a:p>
        </p:txBody>
      </p:sp>
      <p:sp>
        <p:nvSpPr>
          <p:cNvPr id="4" name="">
            <a:extLst xmlns:a="http://schemas.openxmlformats.org/drawingml/2006/main">
              <a:ext uri="{FF2B5EF4-FFF2-40B4-BE49-F238E27FC236}">
                <a16:creationId xmlns:a16="http://schemas.microsoft.com/office/drawing/2014/main" id="{78062A8A-6356-4022-874C-4BE1082A4893}"/>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Focusrail makes controller-navigation problems visible in the editor. The implementation needs to preserve the interaction intent as the interface grows.</a:t>
            </a:r>
          </a:p>
        </p:txBody>
      </p:sp>
      <p:pic>
        <p:nvPicPr>
          <p:cNvPr id="5" name="">
            <a:extLst xmlns:a="http://schemas.openxmlformats.org/drawingml/2006/main">
              <a:ext uri="{FF2B5EF4-FFF2-40B4-BE49-F238E27FC236}">
                <a16:creationId xmlns:a16="http://schemas.microsoft.com/office/drawing/2014/main" id="{B8F580DA-7A72-4F8A-83F4-D8E527D67BA1}"/>
              </a:ext>
            </a:extLst>
          </p:cNvPr>
          <p:cNvPicPr>
            <a:picLocks xmlns:a="http://schemas.openxmlformats.org/drawingml/2006/main" noChangeAspect="1"/>
          </p:cNvPicPr>
          <p:nvPr/>
        </p:nvPicPr>
        <p:blipFill>
          <a:blip xmlns:r="http://schemas.openxmlformats.org/officeDocument/2006/relationships" xmlns:a="http://schemas.openxmlformats.org/drawingml/2006/main" r:embed="R472b6233a273414c"/>
          <a:stretch xmlns:a="http://schemas.openxmlformats.org/drawingml/2006/main"/>
        </p:blipFill>
        <p:spPr>
          <a:xfrm xmlns:a="http://schemas.openxmlformats.org/drawingml/2006/main">
            <a:off x="495300" y="2938463"/>
            <a:ext cx="7620000" cy="3095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FB8359-7111-496F-8A38-1E9878CFAD88}"/>
              </a:ext>
            </a:extLst>
          </p:cNvPr>
          <p:cNvSpPr>
            <a:spLocks xmlns:a="http://schemas.openxmlformats.org/drawingml/2006/main" noGrp="1"/>
          </p:cNvSpPr>
          <p:nvPr/>
        </p:nvSpPr>
        <p:spPr>
          <a:xfrm xmlns:a="http://schemas.openxmlformats.org/drawingml/2006/main">
            <a:off x="8486775" y="283845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Focus order and focus recovery belong in the design discussion.</a:t>
            </a:r>
          </a:p>
        </p:txBody>
      </p:sp>
      <p:sp>
        <p:nvSpPr>
          <p:cNvPr id="7" name="">
            <a:extLst xmlns:a="http://schemas.openxmlformats.org/drawingml/2006/main">
              <a:ext uri="{FF2B5EF4-FFF2-40B4-BE49-F238E27FC236}">
                <a16:creationId xmlns:a16="http://schemas.microsoft.com/office/drawing/2014/main" id="{BB8B1A90-2154-492A-A184-60F783E79D22}"/>
              </a:ext>
            </a:extLst>
          </p:cNvPr>
          <p:cNvSpPr>
            <a:spLocks xmlns:a="http://schemas.openxmlformats.org/drawingml/2006/main" noGrp="1"/>
          </p:cNvSpPr>
          <p:nvPr/>
        </p:nvSpPr>
        <p:spPr>
          <a:xfrm xmlns:a="http://schemas.openxmlformats.org/drawingml/2006/main">
            <a:off x="8486775" y="4076700"/>
            <a:ext cx="3190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Verify labels, input states, and error feedback in the running build.</a:t>
            </a:r>
          </a:p>
        </p:txBody>
      </p:sp>
    </p:spTree>
    <p:extLst>
      <p:ext uri="{BB962C8B-B14F-4D97-AF65-F5344CB8AC3E}">
        <p14:creationId xmlns:p14="http://schemas.microsoft.com/office/powerpoint/2010/main" val="1608725578"/>
      </p:ext>
    </p:extLst>
  </p:cSld>
</p:sld>
</file>

<file path=ppt/slides/slide1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EE06BF-7595-48F2-8628-161D5C747B8B}"/>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EVIDENCE TO COMPLETE</a:t>
            </a:r>
          </a:p>
        </p:txBody>
      </p:sp>
      <p:sp>
        <p:nvSpPr>
          <p:cNvPr id="2" name="">
            <a:extLst xmlns:a="http://schemas.openxmlformats.org/drawingml/2006/main">
              <a:ext uri="{FF2B5EF4-FFF2-40B4-BE49-F238E27FC236}">
                <a16:creationId xmlns:a16="http://schemas.microsoft.com/office/drawing/2014/main" id="{C810AB54-C920-4C36-A963-82C018D0CB4D}"/>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17 / 18</a:t>
            </a:r>
          </a:p>
        </p:txBody>
      </p:sp>
      <p:sp>
        <p:nvSpPr>
          <p:cNvPr id="3" name="">
            <a:extLst xmlns:a="http://schemas.openxmlformats.org/drawingml/2006/main">
              <a:ext uri="{FF2B5EF4-FFF2-40B4-BE49-F238E27FC236}">
                <a16:creationId xmlns:a16="http://schemas.microsoft.com/office/drawing/2014/main" id="{2188E5DF-2156-432F-85C7-CB87ADD1ECB2}"/>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Outcomes and lessons</a:t>
            </a:r>
          </a:p>
        </p:txBody>
      </p:sp>
      <p:sp>
        <p:nvSpPr>
          <p:cNvPr id="4" name="">
            <a:extLst xmlns:a="http://schemas.openxmlformats.org/drawingml/2006/main">
              <a:ext uri="{FF2B5EF4-FFF2-40B4-BE49-F238E27FC236}">
                <a16:creationId xmlns:a16="http://schemas.microsoft.com/office/drawing/2014/main" id="{C87DB5DC-2467-49F5-8020-6C2F192F7F4A}"/>
              </a:ext>
            </a:extLst>
          </p:cNvPr>
          <p:cNvSpPr>
            <a:spLocks xmlns:a="http://schemas.openxmlformats.org/drawingml/2006/main" noGrp="1"/>
          </p:cNvSpPr>
          <p:nvPr/>
        </p:nvSpPr>
        <p:spPr>
          <a:xfrm xmlns:a="http://schemas.openxmlformats.org/drawingml/2006/main">
            <a:off x="514350" y="1647825"/>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62685D"/>
                </a:solidFill>
                <a:latin typeface="Arial"/>
                <a:ea typeface="Arial"/>
                <a:cs typeface="Arial"/>
              </a:defRPr>
            </a:defPPr>
          </a:lstStyle>
          <a:p xmlns:a="http://schemas.openxmlformats.org/drawingml/2006/main">
            <a:pPr>
              <a:defRPr sz="1950" b="0">
                <a:solidFill>
                  <a:srgbClr val="62685D"/>
                </a:solidFill>
                <a:latin typeface="Arial"/>
                <a:ea typeface="Arial"/>
                <a:cs typeface="Arial"/>
              </a:defRPr>
            </a:pPr>
            <a:r>
              <a:rPr sz="1950" b="0">
                <a:solidFill>
                  <a:srgbClr val="62685D"/>
                </a:solidFill>
                <a:latin typeface="Arial"/>
                <a:ea typeface="Arial"/>
                <a:cs typeface="Arial"/>
              </a:rPr>
              <a:t>Room for documented results</a:t>
            </a:r>
          </a:p>
        </p:txBody>
      </p:sp>
      <p:sp>
        <p:nvSpPr>
          <p:cNvPr id="5" name="">
            <a:extLst xmlns:a="http://schemas.openxmlformats.org/drawingml/2006/main">
              <a:ext uri="{FF2B5EF4-FFF2-40B4-BE49-F238E27FC236}">
                <a16:creationId xmlns:a16="http://schemas.microsoft.com/office/drawing/2014/main" id="{2D26217E-3DB9-46C6-A9C3-3DF00C293202}"/>
              </a:ext>
            </a:extLst>
          </p:cNvPr>
          <p:cNvSpPr>
            <a:spLocks xmlns:a="http://schemas.openxmlformats.org/drawingml/2006/main" noGrp="1"/>
          </p:cNvSpPr>
          <p:nvPr/>
        </p:nvSpPr>
        <p:spPr>
          <a:xfrm xmlns:a="http://schemas.openxmlformats.org/drawingml/2006/main">
            <a:off x="514350" y="26574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What changed after review or testing</a:t>
            </a:r>
          </a:p>
        </p:txBody>
      </p:sp>
      <p:sp>
        <p:nvSpPr>
          <p:cNvPr id="6" name="">
            <a:extLst xmlns:a="http://schemas.openxmlformats.org/drawingml/2006/main">
              <a:ext uri="{FF2B5EF4-FFF2-40B4-BE49-F238E27FC236}">
                <a16:creationId xmlns:a16="http://schemas.microsoft.com/office/drawing/2014/main" id="{F390266E-8FA4-4284-BB5C-4C450605C3B9}"/>
              </a:ext>
            </a:extLst>
          </p:cNvPr>
          <p:cNvSpPr>
            <a:spLocks xmlns:a="http://schemas.openxmlformats.org/drawingml/2006/main" noGrp="1"/>
          </p:cNvSpPr>
          <p:nvPr/>
        </p:nvSpPr>
        <p:spPr>
          <a:xfrm xmlns:a="http://schemas.openxmlformats.org/drawingml/2006/main">
            <a:off x="514350" y="3762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Outcome and supporting evidence</a:t>
            </a:r>
          </a:p>
        </p:txBody>
      </p:sp>
      <p:sp>
        <p:nvSpPr>
          <p:cNvPr id="7" name="">
            <a:extLst xmlns:a="http://schemas.openxmlformats.org/drawingml/2006/main">
              <a:ext uri="{FF2B5EF4-FFF2-40B4-BE49-F238E27FC236}">
                <a16:creationId xmlns:a16="http://schemas.microsoft.com/office/drawing/2014/main" id="{5C4213F5-DE5E-41E6-8F2D-32EE7F676D8A}"/>
              </a:ext>
            </a:extLst>
          </p:cNvPr>
          <p:cNvSpPr>
            <a:spLocks xmlns:a="http://schemas.openxmlformats.org/drawingml/2006/main" noGrp="1"/>
          </p:cNvSpPr>
          <p:nvPr/>
        </p:nvSpPr>
        <p:spPr>
          <a:xfrm xmlns:a="http://schemas.openxmlformats.org/drawingml/2006/main">
            <a:off x="514350" y="48672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2B23"/>
                </a:solidFill>
                <a:latin typeface="Arial"/>
                <a:ea typeface="Arial"/>
                <a:cs typeface="Arial"/>
              </a:defRPr>
            </a:defPPr>
          </a:lstStyle>
          <a:p xmlns:a="http://schemas.openxmlformats.org/drawingml/2006/main">
            <a:pPr>
              <a:defRPr sz="1875" b="0">
                <a:solidFill>
                  <a:srgbClr val="252B23"/>
                </a:solidFill>
                <a:latin typeface="Arial"/>
                <a:ea typeface="Arial"/>
                <a:cs typeface="Arial"/>
              </a:defRPr>
            </a:pPr>
            <a:r>
              <a:rPr sz="1875" b="0">
                <a:solidFill>
                  <a:srgbClr val="252B23"/>
                </a:solidFill>
                <a:latin typeface="Arial"/>
                <a:ea typeface="Arial"/>
                <a:cs typeface="Arial"/>
              </a:rPr>
              <a:t>What I would do differently</a:t>
            </a:r>
          </a:p>
        </p:txBody>
      </p:sp>
      <p:sp>
        <p:nvSpPr>
          <p:cNvPr id="8" name="">
            <a:extLst xmlns:a="http://schemas.openxmlformats.org/drawingml/2006/main">
              <a:ext uri="{FF2B5EF4-FFF2-40B4-BE49-F238E27FC236}">
                <a16:creationId xmlns:a16="http://schemas.microsoft.com/office/drawing/2014/main" id="{F5B8CEF1-D388-49A4-9C7F-C129468703EB}"/>
              </a:ext>
            </a:extLst>
          </p:cNvPr>
          <p:cNvSpPr>
            <a:spLocks xmlns:a="http://schemas.openxmlformats.org/drawingml/2006/main" noGrp="1"/>
          </p:cNvSpPr>
          <p:nvPr/>
        </p:nvSpPr>
        <p:spPr>
          <a:xfrm xmlns:a="http://schemas.openxmlformats.org/drawingml/2006/main">
            <a:off x="514350" y="63246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2685D"/>
                </a:solidFill>
                <a:latin typeface="Arial"/>
                <a:ea typeface="Arial"/>
                <a:cs typeface="Arial"/>
              </a:defRPr>
            </a:defPPr>
          </a:lstStyle>
          <a:p xmlns:a="http://schemas.openxmlformats.org/drawingml/2006/main">
            <a:pPr>
              <a:defRPr sz="1275" b="0">
                <a:solidFill>
                  <a:srgbClr val="62685D"/>
                </a:solidFill>
                <a:latin typeface="Arial"/>
                <a:ea typeface="Arial"/>
                <a:cs typeface="Arial"/>
              </a:defRPr>
            </a:pPr>
            <a:r>
              <a:rPr sz="1275" b="0">
                <a:solidFill>
                  <a:srgbClr val="62685D"/>
                </a:solidFill>
                <a:latin typeface="Arial"/>
                <a:ea typeface="Arial"/>
                <a:cs typeface="Arial"/>
              </a:rPr>
              <a:t>Intentionally blank. Suggestions are in the speaker notes.</a:t>
            </a:r>
          </a:p>
        </p:txBody>
      </p:sp>
    </p:spTree>
    <p:extLst>
      <p:ext uri="{BB962C8B-B14F-4D97-AF65-F5344CB8AC3E}">
        <p14:creationId xmlns:p14="http://schemas.microsoft.com/office/powerpoint/2010/main" val="408440365"/>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C10057-969D-4CF7-A328-821BB2028EEB}"/>
              </a:ext>
            </a:extLst>
          </p:cNvPr>
          <p:cNvSpPr>
            <a:spLocks xmlns:a="http://schemas.openxmlformats.org/drawingml/2006/main" noGrp="1"/>
          </p:cNvSpPr>
          <p:nvPr/>
        </p:nvSpPr>
        <p:spPr>
          <a:xfrm xmlns:a="http://schemas.openxmlformats.org/drawingml/2006/main">
            <a:off x="495300" y="304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5633E"/>
                </a:solidFill>
                <a:latin typeface="Arial"/>
                <a:ea typeface="Arial"/>
                <a:cs typeface="Arial"/>
              </a:defRPr>
            </a:defPPr>
          </a:lstStyle>
          <a:p xmlns:a="http://schemas.openxmlformats.org/drawingml/2006/main">
            <a:pPr>
              <a:defRPr sz="1200" b="1">
                <a:solidFill>
                  <a:srgbClr val="45633E"/>
                </a:solidFill>
                <a:latin typeface="Arial"/>
                <a:ea typeface="Arial"/>
                <a:cs typeface="Arial"/>
              </a:defRPr>
            </a:pPr>
            <a:r>
              <a:rPr sz="1200" b="1">
                <a:solidFill>
                  <a:srgbClr val="45633E"/>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76FACCF5-7328-4B49-9312-5C8B35CE3F64}"/>
              </a:ext>
            </a:extLst>
          </p:cNvPr>
          <p:cNvSpPr>
            <a:spLocks xmlns:a="http://schemas.openxmlformats.org/drawingml/2006/main" noGrp="1"/>
          </p:cNvSpPr>
          <p:nvPr/>
        </p:nvSpPr>
        <p:spPr>
          <a:xfrm xmlns:a="http://schemas.openxmlformats.org/drawingml/2006/main">
            <a:off x="10953750" y="314325"/>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2685D"/>
                </a:solidFill>
                <a:latin typeface="Arial"/>
                <a:ea typeface="Arial"/>
                <a:cs typeface="Arial"/>
              </a:defRPr>
            </a:defPPr>
          </a:lstStyle>
          <a:p xmlns:a="http://schemas.openxmlformats.org/drawingml/2006/main">
            <a:pPr>
              <a:defRPr sz="1200" b="0">
                <a:solidFill>
                  <a:srgbClr val="62685D"/>
                </a:solidFill>
                <a:latin typeface="Arial"/>
                <a:ea typeface="Arial"/>
                <a:cs typeface="Arial"/>
              </a:defRPr>
            </a:pPr>
            <a:r>
              <a:rPr sz="1200" b="0">
                <a:solidFill>
                  <a:srgbClr val="62685D"/>
                </a:solidFill>
                <a:latin typeface="Arial"/>
                <a:ea typeface="Arial"/>
                <a:cs typeface="Arial"/>
              </a:rPr>
              <a:t>18 / 18</a:t>
            </a:r>
          </a:p>
        </p:txBody>
      </p:sp>
      <p:sp>
        <p:nvSpPr>
          <p:cNvPr id="3" name="">
            <a:extLst xmlns:a="http://schemas.openxmlformats.org/drawingml/2006/main">
              <a:ext uri="{FF2B5EF4-FFF2-40B4-BE49-F238E27FC236}">
                <a16:creationId xmlns:a16="http://schemas.microsoft.com/office/drawing/2014/main" id="{BF18D11D-0BC3-484E-B7D8-CFDBD5979B2D}"/>
              </a:ext>
            </a:extLst>
          </p:cNvPr>
          <p:cNvSpPr>
            <a:spLocks xmlns:a="http://schemas.openxmlformats.org/drawingml/2006/main" noGrp="1"/>
          </p:cNvSpPr>
          <p:nvPr/>
        </p:nvSpPr>
        <p:spPr>
          <a:xfrm xmlns:a="http://schemas.openxmlformats.org/drawingml/2006/main">
            <a:off x="495300" y="752475"/>
            <a:ext cx="1114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0">
                <a:solidFill>
                  <a:srgbClr val="252B23"/>
                </a:solidFill>
                <a:latin typeface="Arial"/>
                <a:ea typeface="Arial"/>
                <a:cs typeface="Arial"/>
              </a:defRPr>
            </a:defPPr>
          </a:lstStyle>
          <a:p xmlns:a="http://schemas.openxmlformats.org/drawingml/2006/main">
            <a:pPr>
              <a:defRPr sz="3300" b="0">
                <a:solidFill>
                  <a:srgbClr val="252B23"/>
                </a:solidFill>
                <a:latin typeface="Arial"/>
                <a:ea typeface="Arial"/>
                <a:cs typeface="Arial"/>
              </a:defRPr>
            </a:pPr>
            <a:r>
              <a:rPr sz="3300" b="0">
                <a:solidFill>
                  <a:srgbClr val="252B23"/>
                </a:solidFill>
                <a:latin typeface="Arial"/>
                <a:ea typeface="Arial"/>
                <a:cs typeface="Arial"/>
              </a:rPr>
              <a:t>A conversation about your interface</a:t>
            </a:r>
          </a:p>
        </p:txBody>
      </p:sp>
      <p:sp>
        <p:nvSpPr>
          <p:cNvPr id="4" name="">
            <a:extLst xmlns:a="http://schemas.openxmlformats.org/drawingml/2006/main">
              <a:ext uri="{FF2B5EF4-FFF2-40B4-BE49-F238E27FC236}">
                <a16:creationId xmlns:a16="http://schemas.microsoft.com/office/drawing/2014/main" id="{3CA4A6AA-43A0-47E2-8BA4-42E1BD9BA516}"/>
              </a:ext>
            </a:extLst>
          </p:cNvPr>
          <p:cNvSpPr>
            <a:spLocks xmlns:a="http://schemas.openxmlformats.org/drawingml/2006/main" noGrp="1"/>
          </p:cNvSpPr>
          <p:nvPr/>
        </p:nvSpPr>
        <p:spPr>
          <a:xfrm xmlns:a="http://schemas.openxmlformats.org/drawingml/2006/main">
            <a:off x="514350" y="1685925"/>
            <a:ext cx="1095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62685D"/>
                </a:solidFill>
                <a:latin typeface="Arial"/>
                <a:ea typeface="Arial"/>
                <a:cs typeface="Arial"/>
              </a:defRPr>
            </a:defPPr>
          </a:lstStyle>
          <a:p xmlns:a="http://schemas.openxmlformats.org/drawingml/2006/main">
            <a:pPr>
              <a:defRPr sz="1800" b="0">
                <a:solidFill>
                  <a:srgbClr val="62685D"/>
                </a:solidFill>
                <a:latin typeface="Arial"/>
                <a:ea typeface="Arial"/>
                <a:cs typeface="Arial"/>
              </a:defRPr>
            </a:pPr>
            <a:r>
              <a:rPr sz="1800" b="0">
                <a:solidFill>
                  <a:srgbClr val="62685D"/>
                </a:solidFill>
                <a:latin typeface="Arial"/>
                <a:ea typeface="Arial"/>
                <a:cs typeface="Arial"/>
              </a:rPr>
              <a:t>The work I want to understand is the task, the decisions around it, and the moments where people lose confidence.</a:t>
            </a:r>
          </a:p>
        </p:txBody>
      </p:sp>
      <p:sp>
        <p:nvSpPr>
          <p:cNvPr id="5" name="">
            <a:extLst xmlns:a="http://schemas.openxmlformats.org/drawingml/2006/main">
              <a:ext uri="{FF2B5EF4-FFF2-40B4-BE49-F238E27FC236}">
                <a16:creationId xmlns:a16="http://schemas.microsoft.com/office/drawing/2014/main" id="{CABB9C50-DCB1-4A2A-BEC5-D812A0D56337}"/>
              </a:ext>
            </a:extLst>
          </p:cNvPr>
          <p:cNvSpPr>
            <a:spLocks xmlns:a="http://schemas.openxmlformats.org/drawingml/2006/main" noGrp="1"/>
          </p:cNvSpPr>
          <p:nvPr/>
        </p:nvSpPr>
        <p:spPr>
          <a:xfrm xmlns:a="http://schemas.openxmlformats.org/drawingml/2006/main">
            <a:off x="514350" y="278130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Which flow is hardest for your users to complete?</a:t>
            </a:r>
          </a:p>
        </p:txBody>
      </p:sp>
      <p:sp>
        <p:nvSpPr>
          <p:cNvPr id="6" name="">
            <a:extLst xmlns:a="http://schemas.openxmlformats.org/drawingml/2006/main">
              <a:ext uri="{FF2B5EF4-FFF2-40B4-BE49-F238E27FC236}">
                <a16:creationId xmlns:a16="http://schemas.microsoft.com/office/drawing/2014/main" id="{9F29E491-8DC9-4CCD-8CB6-EAA3CEFA90B2}"/>
              </a:ext>
            </a:extLst>
          </p:cNvPr>
          <p:cNvSpPr>
            <a:spLocks xmlns:a="http://schemas.openxmlformats.org/drawingml/2006/main" noGrp="1"/>
          </p:cNvSpPr>
          <p:nvPr/>
        </p:nvSpPr>
        <p:spPr>
          <a:xfrm xmlns:a="http://schemas.openxmlformats.org/drawingml/2006/main">
            <a:off x="514350" y="3648075"/>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Which decision does your team need to validate next?</a:t>
            </a:r>
          </a:p>
        </p:txBody>
      </p:sp>
      <p:sp>
        <p:nvSpPr>
          <p:cNvPr id="7" name="">
            <a:extLst xmlns:a="http://schemas.openxmlformats.org/drawingml/2006/main">
              <a:ext uri="{FF2B5EF4-FFF2-40B4-BE49-F238E27FC236}">
                <a16:creationId xmlns:a16="http://schemas.microsoft.com/office/drawing/2014/main" id="{8F5BCAAD-5358-4F06-9AFF-45FD7833B9BF}"/>
              </a:ext>
            </a:extLst>
          </p:cNvPr>
          <p:cNvSpPr>
            <a:spLocks xmlns:a="http://schemas.openxmlformats.org/drawingml/2006/main" noGrp="1"/>
          </p:cNvSpPr>
          <p:nvPr/>
        </p:nvSpPr>
        <p:spPr>
          <a:xfrm xmlns:a="http://schemas.openxmlformats.org/drawingml/2006/main">
            <a:off x="514350" y="45148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52B23"/>
                </a:solidFill>
                <a:latin typeface="Arial"/>
                <a:ea typeface="Arial"/>
                <a:cs typeface="Arial"/>
              </a:defRPr>
            </a:defPPr>
          </a:lstStyle>
          <a:p xmlns:a="http://schemas.openxmlformats.org/drawingml/2006/main">
            <a:pPr>
              <a:defRPr sz="2025" b="0">
                <a:solidFill>
                  <a:srgbClr val="252B23"/>
                </a:solidFill>
                <a:latin typeface="Arial"/>
                <a:ea typeface="Arial"/>
                <a:cs typeface="Arial"/>
              </a:defRPr>
            </a:pPr>
            <a:r>
              <a:rPr sz="2025" b="0">
                <a:solidFill>
                  <a:srgbClr val="252B23"/>
                </a:solidFill>
                <a:latin typeface="Arial"/>
                <a:ea typeface="Arial"/>
                <a:cs typeface="Arial"/>
              </a:rPr>
              <a:t>What could we put in front of people before investing in the full visual production?</a:t>
            </a:r>
          </a:p>
        </p:txBody>
      </p:sp>
    </p:spTree>
    <p:extLst>
      <p:ext uri="{BB962C8B-B14F-4D97-AF65-F5344CB8AC3E}">
        <p14:creationId xmlns:p14="http://schemas.microsoft.com/office/powerpoint/2010/main" val="17622567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2026-10-12T19:32:56.9650000Z</dcterms:created>
  <dcterms:modified xsi:type="dcterms:W3CDTF">2026-10-12T19:32:56.9650000Z</dcterms:modified>
</coreProperties>
</file>